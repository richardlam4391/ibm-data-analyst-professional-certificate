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4" r:id="rId4"/>
  </p:sldMasterIdLst>
  <p:notesMasterIdLst>
    <p:notesMasterId r:id="rId2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x="12192000" cy="6858000"/>
  <p:notesSz cx="9601200" cy="7315200"/>
  <p:custDataLst>
    <p:tags r:id="rId2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44" userDrawn="1">
          <p15:clr>
            <a:srgbClr val="A4A3A4"/>
          </p15:clr>
        </p15:guide>
        <p15:guide id="2" pos="2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BD3AA52-0FB4-F6D0-6D07-1A3D2D9FD3FC}" name="Marianne Seidler" initials="MS" userId="S::mariannes@skillup.tech::bb0b4178-c940-4a9a-9c5e-e97bf5d50d86" providerId="AD"/>
  <p188:author id="{F554C3DC-94B8-9F7D-83FC-6D4CEC0DE845}" name="Dawn Teel-Friedman" initials="DTF" userId="Dawn Teel-Friedman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  <p:cmAuthor id="4" name="UPKAR LIDDER" initials="UL" lastIdx="2" clrIdx="3"/>
  <p:cmAuthor id="5" name="Beth Larsen" initials="BL" lastIdx="1" clrIdx="4">
    <p:extLst>
      <p:ext uri="{19B8F6BF-5375-455C-9EA6-DF929625EA0E}">
        <p15:presenceInfo xmlns:p15="http://schemas.microsoft.com/office/powerpoint/2012/main" userId="04edb8684ac0beb8" providerId="Windows Live"/>
      </p:ext>
    </p:extLst>
  </p:cmAuthor>
  <p:cmAuthor id="6" name="Matt Ockenfels" initials="MO" lastIdx="1" clrIdx="5">
    <p:extLst>
      <p:ext uri="{19B8F6BF-5375-455C-9EA6-DF929625EA0E}">
        <p15:presenceInfo xmlns:p15="http://schemas.microsoft.com/office/powerpoint/2012/main" userId="S::matto@skillup.tech::1f5f8b86-5465-4302-9a82-9a36d055e8b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2C3"/>
    <a:srgbClr val="007D79"/>
    <a:srgbClr val="D02670"/>
    <a:srgbClr val="231F20"/>
    <a:srgbClr val="33B1FF"/>
    <a:srgbClr val="262626"/>
    <a:srgbClr val="525252"/>
    <a:srgbClr val="BE95FF"/>
    <a:srgbClr val="FFFFFF"/>
    <a:srgbClr val="C1C7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499C98-24D7-F143-A613-D070042B8C1A}" v="2" dt="2026-05-22T02:55:37.577"/>
  </p1510:revLst>
</p1510:revInfo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30" autoAdjust="0"/>
    <p:restoredTop sz="91507" autoAdjust="0"/>
  </p:normalViewPr>
  <p:slideViewPr>
    <p:cSldViewPr snapToGrid="0">
      <p:cViewPr varScale="1">
        <p:scale>
          <a:sx n="97" d="100"/>
          <a:sy n="97" d="100"/>
        </p:scale>
        <p:origin x="192" y="920"/>
      </p:cViewPr>
      <p:guideLst>
        <p:guide orient="horz" pos="744"/>
        <p:guide pos="28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hard Lam" userId="8767ac5fea7c8a93" providerId="LiveId" clId="{15E64987-CBD7-5AE7-B736-2793F33F0B17}"/>
    <pc:docChg chg="undo custSel addSld delSld modSld">
      <pc:chgData name="Richard Lam" userId="8767ac5fea7c8a93" providerId="LiveId" clId="{15E64987-CBD7-5AE7-B736-2793F33F0B17}" dt="2026-05-22T03:06:34.472" v="52" actId="14100"/>
      <pc:docMkLst>
        <pc:docMk/>
      </pc:docMkLst>
      <pc:sldChg chg="addSp delSp modSp mod">
        <pc:chgData name="Richard Lam" userId="8767ac5fea7c8a93" providerId="LiveId" clId="{15E64987-CBD7-5AE7-B736-2793F33F0B17}" dt="2026-05-22T02:58:49.208" v="29" actId="14100"/>
        <pc:sldMkLst>
          <pc:docMk/>
          <pc:sldMk cId="3684467408" sldId="262"/>
        </pc:sldMkLst>
        <pc:spChg chg="mod">
          <ac:chgData name="Richard Lam" userId="8767ac5fea7c8a93" providerId="LiveId" clId="{15E64987-CBD7-5AE7-B736-2793F33F0B17}" dt="2026-05-22T02:54:17.061" v="15" actId="1076"/>
          <ac:spMkLst>
            <pc:docMk/>
            <pc:sldMk cId="3684467408" sldId="262"/>
            <ac:spMk id="10" creationId="{2DFAC5CF-1B58-ABB4-D63B-1D931D572459}"/>
          </ac:spMkLst>
        </pc:spChg>
        <pc:picChg chg="add mod">
          <ac:chgData name="Richard Lam" userId="8767ac5fea7c8a93" providerId="LiveId" clId="{15E64987-CBD7-5AE7-B736-2793F33F0B17}" dt="2026-05-22T02:58:49.208" v="29" actId="14100"/>
          <ac:picMkLst>
            <pc:docMk/>
            <pc:sldMk cId="3684467408" sldId="262"/>
            <ac:picMk id="3" creationId="{048F215C-ABFD-0AD0-A78D-DF28FACA6904}"/>
          </ac:picMkLst>
        </pc:picChg>
        <pc:picChg chg="add mod">
          <ac:chgData name="Richard Lam" userId="8767ac5fea7c8a93" providerId="LiveId" clId="{15E64987-CBD7-5AE7-B736-2793F33F0B17}" dt="2026-05-22T02:55:37.577" v="19"/>
          <ac:picMkLst>
            <pc:docMk/>
            <pc:sldMk cId="3684467408" sldId="262"/>
            <ac:picMk id="4" creationId="{D33121A8-487C-9990-3337-BFD951A24D87}"/>
          </ac:picMkLst>
        </pc:picChg>
        <pc:picChg chg="del">
          <ac:chgData name="Richard Lam" userId="8767ac5fea7c8a93" providerId="LiveId" clId="{15E64987-CBD7-5AE7-B736-2793F33F0B17}" dt="2026-05-22T02:54:19.264" v="16" actId="478"/>
          <ac:picMkLst>
            <pc:docMk/>
            <pc:sldMk cId="3684467408" sldId="262"/>
            <ac:picMk id="12" creationId="{2E312020-C568-972D-DC74-3A677D7B3D7D}"/>
          </ac:picMkLst>
        </pc:picChg>
        <pc:picChg chg="del">
          <ac:chgData name="Richard Lam" userId="8767ac5fea7c8a93" providerId="LiveId" clId="{15E64987-CBD7-5AE7-B736-2793F33F0B17}" dt="2026-05-22T02:54:20.679" v="17" actId="478"/>
          <ac:picMkLst>
            <pc:docMk/>
            <pc:sldMk cId="3684467408" sldId="262"/>
            <ac:picMk id="14" creationId="{2AC93667-FC7D-E547-68F4-BAFCC7B12FC6}"/>
          </ac:picMkLst>
        </pc:picChg>
      </pc:sldChg>
      <pc:sldChg chg="addSp delSp modSp mod">
        <pc:chgData name="Richard Lam" userId="8767ac5fea7c8a93" providerId="LiveId" clId="{15E64987-CBD7-5AE7-B736-2793F33F0B17}" dt="2026-05-22T02:56:12.058" v="25" actId="14100"/>
        <pc:sldMkLst>
          <pc:docMk/>
          <pc:sldMk cId="1502887446" sldId="264"/>
        </pc:sldMkLst>
        <pc:picChg chg="add del mod">
          <ac:chgData name="Richard Lam" userId="8767ac5fea7c8a93" providerId="LiveId" clId="{15E64987-CBD7-5AE7-B736-2793F33F0B17}" dt="2026-05-22T02:55:41.583" v="20" actId="478"/>
          <ac:picMkLst>
            <pc:docMk/>
            <pc:sldMk cId="1502887446" sldId="264"/>
            <ac:picMk id="6" creationId="{62D4980E-896E-A3BD-0538-33C969E7C593}"/>
          </ac:picMkLst>
        </pc:picChg>
        <pc:picChg chg="add mod">
          <ac:chgData name="Richard Lam" userId="8767ac5fea7c8a93" providerId="LiveId" clId="{15E64987-CBD7-5AE7-B736-2793F33F0B17}" dt="2026-05-22T02:56:05.824" v="23" actId="1076"/>
          <ac:picMkLst>
            <pc:docMk/>
            <pc:sldMk cId="1502887446" sldId="264"/>
            <ac:picMk id="8" creationId="{44B96806-8F7C-09AE-C28B-BD2B54249279}"/>
          </ac:picMkLst>
        </pc:picChg>
        <pc:picChg chg="add mod">
          <ac:chgData name="Richard Lam" userId="8767ac5fea7c8a93" providerId="LiveId" clId="{15E64987-CBD7-5AE7-B736-2793F33F0B17}" dt="2026-05-22T02:56:12.058" v="25" actId="14100"/>
          <ac:picMkLst>
            <pc:docMk/>
            <pc:sldMk cId="1502887446" sldId="264"/>
            <ac:picMk id="10" creationId="{F827E4A0-2869-58D9-DB09-CE3A6E9F7D9D}"/>
          </ac:picMkLst>
        </pc:picChg>
        <pc:picChg chg="del">
          <ac:chgData name="Richard Lam" userId="8767ac5fea7c8a93" providerId="LiveId" clId="{15E64987-CBD7-5AE7-B736-2793F33F0B17}" dt="2026-05-22T02:53:07.852" v="6" actId="478"/>
          <ac:picMkLst>
            <pc:docMk/>
            <pc:sldMk cId="1502887446" sldId="264"/>
            <ac:picMk id="12" creationId="{B06193E2-DB24-EB7B-11A4-B25368E2C6DC}"/>
          </ac:picMkLst>
        </pc:picChg>
        <pc:picChg chg="del">
          <ac:chgData name="Richard Lam" userId="8767ac5fea7c8a93" providerId="LiveId" clId="{15E64987-CBD7-5AE7-B736-2793F33F0B17}" dt="2026-05-22T02:53:09.943" v="7" actId="478"/>
          <ac:picMkLst>
            <pc:docMk/>
            <pc:sldMk cId="1502887446" sldId="264"/>
            <ac:picMk id="14" creationId="{8049F76F-D088-A888-2068-A6A66BD8FF0C}"/>
          </ac:picMkLst>
        </pc:picChg>
      </pc:sldChg>
      <pc:sldChg chg="modSp">
        <pc:chgData name="Richard Lam" userId="8767ac5fea7c8a93" providerId="LiveId" clId="{15E64987-CBD7-5AE7-B736-2793F33F0B17}" dt="2026-05-22T02:46:42.576" v="2"/>
        <pc:sldMkLst>
          <pc:docMk/>
          <pc:sldMk cId="175219845" sldId="266"/>
        </pc:sldMkLst>
        <pc:spChg chg="mod">
          <ac:chgData name="Richard Lam" userId="8767ac5fea7c8a93" providerId="LiveId" clId="{15E64987-CBD7-5AE7-B736-2793F33F0B17}" dt="2026-05-22T02:46:42.576" v="2"/>
          <ac:spMkLst>
            <pc:docMk/>
            <pc:sldMk cId="175219845" sldId="266"/>
            <ac:spMk id="3" creationId="{25C64183-B387-01E7-21BA-4DA6B1F51815}"/>
          </ac:spMkLst>
        </pc:spChg>
      </pc:sldChg>
      <pc:sldChg chg="addSp delSp modSp add del mod">
        <pc:chgData name="Richard Lam" userId="8767ac5fea7c8a93" providerId="LiveId" clId="{15E64987-CBD7-5AE7-B736-2793F33F0B17}" dt="2026-05-22T03:06:34.472" v="52" actId="14100"/>
        <pc:sldMkLst>
          <pc:docMk/>
          <pc:sldMk cId="2429736721" sldId="267"/>
        </pc:sldMkLst>
        <pc:picChg chg="add del mod">
          <ac:chgData name="Richard Lam" userId="8767ac5fea7c8a93" providerId="LiveId" clId="{15E64987-CBD7-5AE7-B736-2793F33F0B17}" dt="2026-05-22T03:02:50.699" v="34" actId="478"/>
          <ac:picMkLst>
            <pc:docMk/>
            <pc:sldMk cId="2429736721" sldId="267"/>
            <ac:picMk id="4" creationId="{03BC4FF9-4EC0-600C-C80A-A2FD7B4FD228}"/>
          </ac:picMkLst>
        </pc:picChg>
        <pc:picChg chg="add mod">
          <ac:chgData name="Richard Lam" userId="8767ac5fea7c8a93" providerId="LiveId" clId="{15E64987-CBD7-5AE7-B736-2793F33F0B17}" dt="2026-05-22T03:06:34.472" v="52" actId="14100"/>
          <ac:picMkLst>
            <pc:docMk/>
            <pc:sldMk cId="2429736721" sldId="267"/>
            <ac:picMk id="6" creationId="{20DF6FB9-E3DF-D457-8CCE-E76D5FB4C039}"/>
          </ac:picMkLst>
        </pc:picChg>
        <pc:picChg chg="del">
          <ac:chgData name="Richard Lam" userId="8767ac5fea7c8a93" providerId="LiveId" clId="{15E64987-CBD7-5AE7-B736-2793F33F0B17}" dt="2026-05-22T02:47:43.763" v="4" actId="478"/>
          <ac:picMkLst>
            <pc:docMk/>
            <pc:sldMk cId="2429736721" sldId="267"/>
            <ac:picMk id="11" creationId="{C298BD3B-1A15-F694-FFC6-5D3E9ED2E6F3}"/>
          </ac:picMkLst>
        </pc:picChg>
      </pc:sldChg>
      <pc:sldChg chg="addSp delSp modSp mod">
        <pc:chgData name="Richard Lam" userId="8767ac5fea7c8a93" providerId="LiveId" clId="{15E64987-CBD7-5AE7-B736-2793F33F0B17}" dt="2026-05-22T03:03:55.190" v="45" actId="14100"/>
        <pc:sldMkLst>
          <pc:docMk/>
          <pc:sldMk cId="2048496678" sldId="268"/>
        </pc:sldMkLst>
        <pc:picChg chg="add mod">
          <ac:chgData name="Richard Lam" userId="8767ac5fea7c8a93" providerId="LiveId" clId="{15E64987-CBD7-5AE7-B736-2793F33F0B17}" dt="2026-05-22T03:03:55.190" v="45" actId="14100"/>
          <ac:picMkLst>
            <pc:docMk/>
            <pc:sldMk cId="2048496678" sldId="268"/>
            <ac:picMk id="4" creationId="{940B6DE5-8990-322A-6A0C-FDAE00025B5B}"/>
          </ac:picMkLst>
        </pc:picChg>
        <pc:picChg chg="del">
          <ac:chgData name="Richard Lam" userId="8767ac5fea7c8a93" providerId="LiveId" clId="{15E64987-CBD7-5AE7-B736-2793F33F0B17}" dt="2026-05-22T02:47:39.570" v="3" actId="478"/>
          <ac:picMkLst>
            <pc:docMk/>
            <pc:sldMk cId="2048496678" sldId="268"/>
            <ac:picMk id="11" creationId="{39744668-0CF6-44AF-7D53-223E1305EE57}"/>
          </ac:picMkLst>
        </pc:picChg>
      </pc:sldChg>
      <pc:sldChg chg="addSp delSp modSp mod">
        <pc:chgData name="Richard Lam" userId="8767ac5fea7c8a93" providerId="LiveId" clId="{15E64987-CBD7-5AE7-B736-2793F33F0B17}" dt="2026-05-22T03:03:24.023" v="40" actId="14100"/>
        <pc:sldMkLst>
          <pc:docMk/>
          <pc:sldMk cId="2405636225" sldId="269"/>
        </pc:sldMkLst>
        <pc:picChg chg="add mod">
          <ac:chgData name="Richard Lam" userId="8767ac5fea7c8a93" providerId="LiveId" clId="{15E64987-CBD7-5AE7-B736-2793F33F0B17}" dt="2026-05-22T03:03:24.023" v="40" actId="14100"/>
          <ac:picMkLst>
            <pc:docMk/>
            <pc:sldMk cId="2405636225" sldId="269"/>
            <ac:picMk id="4" creationId="{C06C5D6B-DEE0-0DFF-4390-C59DF560009E}"/>
          </ac:picMkLst>
        </pc:picChg>
        <pc:picChg chg="del">
          <ac:chgData name="Richard Lam" userId="8767ac5fea7c8a93" providerId="LiveId" clId="{15E64987-CBD7-5AE7-B736-2793F33F0B17}" dt="2026-05-22T02:47:45.630" v="5" actId="478"/>
          <ac:picMkLst>
            <pc:docMk/>
            <pc:sldMk cId="2405636225" sldId="269"/>
            <ac:picMk id="15" creationId="{20C4A651-43BC-FE9E-CA64-961EF59B581E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9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1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0,'6'0,"-4"6,-2 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2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6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1806919"/>
          </a:xfrm>
          <a:prstGeom prst="rect">
            <a:avLst/>
          </a:prstGeom>
        </p:spPr>
        <p:txBody>
          <a:bodyPr vert="horz" lIns="177476" tIns="88738" rIns="177476" bIns="88738" rtlCol="0"/>
          <a:lstStyle>
            <a:lvl1pPr algn="l">
              <a:defRPr sz="2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438458" y="0"/>
            <a:ext cx="4160520" cy="1806919"/>
          </a:xfrm>
          <a:prstGeom prst="rect">
            <a:avLst/>
          </a:prstGeom>
        </p:spPr>
        <p:txBody>
          <a:bodyPr vert="horz" lIns="177476" tIns="88738" rIns="177476" bIns="88738" rtlCol="0"/>
          <a:lstStyle>
            <a:lvl1pPr algn="r">
              <a:defRPr sz="2300"/>
            </a:lvl1pPr>
          </a:lstStyle>
          <a:p>
            <a:fld id="{9E497948-54D2-43F8-9A63-A99FE3051738}" type="datetimeFigureOut">
              <a:rPr lang="en-US" smtClean="0"/>
              <a:t>5/21/26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002338" y="4502150"/>
            <a:ext cx="21605876" cy="12153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77476" tIns="88738" rIns="177476" bIns="88738" rtlCol="0" anchor="ctr"/>
          <a:lstStyle/>
          <a:p>
            <a:r>
              <a:rPr lang="en-US"/>
              <a:t> </a:t>
            </a: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60120" y="17331397"/>
            <a:ext cx="7680960" cy="14180234"/>
          </a:xfrm>
          <a:prstGeom prst="rect">
            <a:avLst/>
          </a:prstGeom>
        </p:spPr>
        <p:txBody>
          <a:bodyPr vert="horz" lIns="177476" tIns="88738" rIns="177476" bIns="8873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4206379"/>
            <a:ext cx="4160520" cy="1806915"/>
          </a:xfrm>
          <a:prstGeom prst="rect">
            <a:avLst/>
          </a:prstGeom>
        </p:spPr>
        <p:txBody>
          <a:bodyPr vert="horz" lIns="177476" tIns="88738" rIns="177476" bIns="88738" rtlCol="0" anchor="b"/>
          <a:lstStyle>
            <a:lvl1pPr algn="l">
              <a:defRPr sz="2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438458" y="34206379"/>
            <a:ext cx="4160520" cy="1806915"/>
          </a:xfrm>
          <a:prstGeom prst="rect">
            <a:avLst/>
          </a:prstGeom>
        </p:spPr>
        <p:txBody>
          <a:bodyPr vert="horz" lIns="177476" tIns="88738" rIns="177476" bIns="88738" rtlCol="0" anchor="b"/>
          <a:lstStyle>
            <a:lvl1pPr algn="r">
              <a:defRPr sz="2300"/>
            </a:lvl1pPr>
          </a:lstStyle>
          <a:p>
            <a:fld id="{EEBDA0E2-FEBD-4B65-8F16-724CF984F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5/21/26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1308DBB1-118B-EF68-A252-7655AC48B836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C0207783-9544-6926-8401-41F5D42CB8B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10" name="Graphic 9" hidden="1">
              <a:extLst>
                <a:ext uri="{FF2B5EF4-FFF2-40B4-BE49-F238E27FC236}">
                  <a16:creationId xmlns:a16="http://schemas.microsoft.com/office/drawing/2014/main" id="{988AEB5A-8144-DD9A-E1A4-7997F245BF4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11" name="Graphic 10" hidden="1">
              <a:extLst>
                <a:ext uri="{FF2B5EF4-FFF2-40B4-BE49-F238E27FC236}">
                  <a16:creationId xmlns:a16="http://schemas.microsoft.com/office/drawing/2014/main" id="{611FE700-C2A3-8398-3F18-5EF923CC939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12" name="Graphic 11" hidden="1">
              <a:extLst>
                <a:ext uri="{FF2B5EF4-FFF2-40B4-BE49-F238E27FC236}">
                  <a16:creationId xmlns:a16="http://schemas.microsoft.com/office/drawing/2014/main" id="{7D2C16E3-5584-7EDE-F652-5E9666F1C1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13" name="Graphic 12">
            <a:extLst>
              <a:ext uri="{FF2B5EF4-FFF2-40B4-BE49-F238E27FC236}">
                <a16:creationId xmlns:a16="http://schemas.microsoft.com/office/drawing/2014/main" id="{3BE0DBE3-670F-3EC6-4045-018CF7187B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433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5/21/26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80199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8932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5/21/26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0333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0671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721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0943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33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8165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712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49751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3923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6691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3975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75932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25745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41078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793464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8.svg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7.sv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6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5/21/26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12" name="Picture 11" descr="Text, logo&#10;&#10;Description automatically generated">
            <a:extLst>
              <a:ext uri="{FF2B5EF4-FFF2-40B4-BE49-F238E27FC236}">
                <a16:creationId xmlns:a16="http://schemas.microsoft.com/office/drawing/2014/main" id="{33C71E95-E795-9CA6-8D02-90B8FA0EE9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>
            <a:alphaModFix amt="5000"/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saturation sat="155000"/>
                    </a14:imgEffect>
                    <a14:imgEffect>
                      <a14:brightnessContrast contrast="-77000"/>
                    </a14:imgEffect>
                  </a14:imgLayer>
                </a14:imgProps>
              </a:ext>
            </a:extLst>
          </a:blip>
          <a:srcRect l="-1923" r="70315"/>
          <a:stretch/>
        </p:blipFill>
        <p:spPr>
          <a:xfrm>
            <a:off x="3345127" y="1418811"/>
            <a:ext cx="5501746" cy="482613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8062997-E2FA-0FA0-439E-B3860D018028}"/>
              </a:ext>
            </a:extLst>
          </p:cNvPr>
          <p:cNvSpPr/>
          <p:nvPr userDrawn="1"/>
        </p:nvSpPr>
        <p:spPr>
          <a:xfrm>
            <a:off x="12625444" y="2728308"/>
            <a:ext cx="1235879" cy="1235878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D64DFFF-E58E-A827-7EB3-DB822423DA2F}"/>
              </a:ext>
            </a:extLst>
          </p:cNvPr>
          <p:cNvSpPr/>
          <p:nvPr userDrawn="1"/>
        </p:nvSpPr>
        <p:spPr>
          <a:xfrm>
            <a:off x="18071881" y="2728308"/>
            <a:ext cx="1235879" cy="1235878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37BAA4-0E1D-C497-4A16-6A9B5B1DC38D}"/>
              </a:ext>
            </a:extLst>
          </p:cNvPr>
          <p:cNvSpPr/>
          <p:nvPr userDrawn="1"/>
        </p:nvSpPr>
        <p:spPr>
          <a:xfrm>
            <a:off x="14440923" y="2728308"/>
            <a:ext cx="1235879" cy="1235878"/>
          </a:xfrm>
          <a:prstGeom prst="rect">
            <a:avLst/>
          </a:prstGeom>
          <a:solidFill>
            <a:srgbClr val="FF7EB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#FF7EB6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265173E-1A80-F696-20AD-A36B1591E493}"/>
              </a:ext>
            </a:extLst>
          </p:cNvPr>
          <p:cNvSpPr/>
          <p:nvPr userDrawn="1"/>
        </p:nvSpPr>
        <p:spPr>
          <a:xfrm>
            <a:off x="16256402" y="2728308"/>
            <a:ext cx="1235879" cy="1235878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2E51BA-1695-ED0E-87DA-2C32A245C2CB}"/>
              </a:ext>
            </a:extLst>
          </p:cNvPr>
          <p:cNvSpPr txBox="1"/>
          <p:nvPr userDrawn="1"/>
        </p:nvSpPr>
        <p:spPr>
          <a:xfrm>
            <a:off x="12602453" y="3912427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4FE37A-7239-3830-4C21-928CB110BC0E}"/>
              </a:ext>
            </a:extLst>
          </p:cNvPr>
          <p:cNvSpPr txBox="1"/>
          <p:nvPr userDrawn="1"/>
        </p:nvSpPr>
        <p:spPr>
          <a:xfrm>
            <a:off x="14334144" y="3912427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27444A-0F43-30EF-8054-C3A82466AD8D}"/>
              </a:ext>
            </a:extLst>
          </p:cNvPr>
          <p:cNvSpPr txBox="1"/>
          <p:nvPr userDrawn="1"/>
        </p:nvSpPr>
        <p:spPr>
          <a:xfrm>
            <a:off x="16404771" y="3912427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4BCE7E-C41A-101C-B1C7-C179CAF18C77}"/>
              </a:ext>
            </a:extLst>
          </p:cNvPr>
          <p:cNvSpPr txBox="1"/>
          <p:nvPr userDrawn="1"/>
        </p:nvSpPr>
        <p:spPr>
          <a:xfrm>
            <a:off x="18206642" y="3912427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DCB7998-6099-B61D-68AB-D2435DF7F179}"/>
              </a:ext>
            </a:extLst>
          </p:cNvPr>
          <p:cNvSpPr/>
          <p:nvPr userDrawn="1"/>
        </p:nvSpPr>
        <p:spPr>
          <a:xfrm>
            <a:off x="12625444" y="4418033"/>
            <a:ext cx="1235879" cy="1235878"/>
          </a:xfrm>
          <a:prstGeom prst="rect">
            <a:avLst/>
          </a:prstGeom>
          <a:solidFill>
            <a:srgbClr val="8A3FFC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#8A3FFC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C2940D8-0929-5F42-0F0D-824C530E5DB0}"/>
              </a:ext>
            </a:extLst>
          </p:cNvPr>
          <p:cNvSpPr/>
          <p:nvPr userDrawn="1"/>
        </p:nvSpPr>
        <p:spPr>
          <a:xfrm>
            <a:off x="18071881" y="4418033"/>
            <a:ext cx="1235879" cy="1235878"/>
          </a:xfrm>
          <a:prstGeom prst="rect">
            <a:avLst/>
          </a:prstGeom>
          <a:solidFill>
            <a:srgbClr val="0072C3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#0072C3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07AC565-C7AA-29B0-B549-2B60FDC06574}"/>
              </a:ext>
            </a:extLst>
          </p:cNvPr>
          <p:cNvSpPr/>
          <p:nvPr userDrawn="1"/>
        </p:nvSpPr>
        <p:spPr>
          <a:xfrm>
            <a:off x="14440923" y="4418033"/>
            <a:ext cx="1235879" cy="1235878"/>
          </a:xfrm>
          <a:prstGeom prst="rect">
            <a:avLst/>
          </a:prstGeom>
          <a:solidFill>
            <a:srgbClr val="D02670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#D02670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AB2E498-7269-9C11-78A0-79F4B506E59F}"/>
              </a:ext>
            </a:extLst>
          </p:cNvPr>
          <p:cNvSpPr/>
          <p:nvPr userDrawn="1"/>
        </p:nvSpPr>
        <p:spPr>
          <a:xfrm>
            <a:off x="16256402" y="4418033"/>
            <a:ext cx="1235879" cy="1235878"/>
          </a:xfrm>
          <a:prstGeom prst="rect">
            <a:avLst/>
          </a:prstGeom>
          <a:solidFill>
            <a:srgbClr val="007D7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#007D79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A11F031-DCD2-3451-7B96-F77DD9D3F87D}"/>
              </a:ext>
            </a:extLst>
          </p:cNvPr>
          <p:cNvSpPr txBox="1"/>
          <p:nvPr userDrawn="1"/>
        </p:nvSpPr>
        <p:spPr>
          <a:xfrm>
            <a:off x="12602453" y="5602152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CD6E2B3-351A-C787-611B-E3200DFBA1C0}"/>
              </a:ext>
            </a:extLst>
          </p:cNvPr>
          <p:cNvSpPr txBox="1"/>
          <p:nvPr userDrawn="1"/>
        </p:nvSpPr>
        <p:spPr>
          <a:xfrm>
            <a:off x="14334144" y="5602152"/>
            <a:ext cx="1448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9396E5E-C857-71D1-F20D-135FA3A9CE9A}"/>
              </a:ext>
            </a:extLst>
          </p:cNvPr>
          <p:cNvSpPr txBox="1"/>
          <p:nvPr userDrawn="1"/>
        </p:nvSpPr>
        <p:spPr>
          <a:xfrm>
            <a:off x="16404771" y="5602152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FD4E7B9-19FD-E323-C92C-2578A489AEB5}"/>
              </a:ext>
            </a:extLst>
          </p:cNvPr>
          <p:cNvSpPr txBox="1"/>
          <p:nvPr userDrawn="1"/>
        </p:nvSpPr>
        <p:spPr>
          <a:xfrm>
            <a:off x="18206642" y="5602152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1844CFC-6CDD-CB82-B288-B59E66BAA45E}"/>
              </a:ext>
            </a:extLst>
          </p:cNvPr>
          <p:cNvSpPr/>
          <p:nvPr userDrawn="1"/>
        </p:nvSpPr>
        <p:spPr>
          <a:xfrm>
            <a:off x="19512379" y="2712316"/>
            <a:ext cx="1267863" cy="1267862"/>
          </a:xfrm>
          <a:prstGeom prst="rect">
            <a:avLst/>
          </a:prstGeom>
          <a:solidFill>
            <a:srgbClr val="12161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FFFFFF"/>
                </a:solidFill>
                <a:effectLst/>
                <a:latin typeface="IBM Plex Mono" panose="020B0509050203000203" pitchFamily="49" charset="0"/>
              </a:rPr>
              <a:t>000000</a:t>
            </a:r>
            <a:endParaRPr lang="en-US" dirty="0">
              <a:solidFill>
                <a:schemeClr val="bg2"/>
              </a:solidFill>
              <a:latin typeface="IBM Plex Sans" panose="020B0503050203000203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9FC33EA-DCDA-D2C4-676E-63AF518C103F}"/>
              </a:ext>
            </a:extLst>
          </p:cNvPr>
          <p:cNvSpPr/>
          <p:nvPr userDrawn="1"/>
        </p:nvSpPr>
        <p:spPr>
          <a:xfrm>
            <a:off x="19510690" y="4403963"/>
            <a:ext cx="1264019" cy="1264018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262626"/>
                </a:solidFill>
                <a:effectLst/>
                <a:latin typeface="IBM Plex Mono" panose="020B0509050203000203" pitchFamily="49" charset="0"/>
              </a:rPr>
              <a:t>FFFFFF</a:t>
            </a:r>
            <a:endParaRPr lang="en-US" dirty="0">
              <a:solidFill>
                <a:srgbClr val="262626"/>
              </a:solidFill>
              <a:latin typeface="IBM Plex Sans" panose="020B0503050203000203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3CE115C-1332-0D5F-843D-D7808D506BA8}"/>
              </a:ext>
            </a:extLst>
          </p:cNvPr>
          <p:cNvSpPr/>
          <p:nvPr userDrawn="1"/>
        </p:nvSpPr>
        <p:spPr>
          <a:xfrm>
            <a:off x="12625444" y="1072749"/>
            <a:ext cx="1235879" cy="1235878"/>
          </a:xfrm>
          <a:prstGeom prst="rect">
            <a:avLst/>
          </a:prstGeom>
          <a:solidFill>
            <a:srgbClr val="F6F2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#F6F2FF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6877828-BC95-8705-7E91-008BC30C0395}"/>
              </a:ext>
            </a:extLst>
          </p:cNvPr>
          <p:cNvSpPr/>
          <p:nvPr userDrawn="1"/>
        </p:nvSpPr>
        <p:spPr>
          <a:xfrm>
            <a:off x="18071881" y="1072749"/>
            <a:ext cx="1235879" cy="1235878"/>
          </a:xfrm>
          <a:prstGeom prst="rect">
            <a:avLst/>
          </a:prstGeom>
          <a:solidFill>
            <a:srgbClr val="E5F6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#E5F6FF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2E3D5A5-B854-E693-EE77-1593C660339E}"/>
              </a:ext>
            </a:extLst>
          </p:cNvPr>
          <p:cNvSpPr/>
          <p:nvPr userDrawn="1"/>
        </p:nvSpPr>
        <p:spPr>
          <a:xfrm>
            <a:off x="14440923" y="1072749"/>
            <a:ext cx="1235879" cy="1235878"/>
          </a:xfrm>
          <a:prstGeom prst="rect">
            <a:avLst/>
          </a:prstGeom>
          <a:solidFill>
            <a:srgbClr val="FFF0F7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#FFF0F7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D8A3B77-51FA-258A-F344-DC048912172F}"/>
              </a:ext>
            </a:extLst>
          </p:cNvPr>
          <p:cNvSpPr/>
          <p:nvPr userDrawn="1"/>
        </p:nvSpPr>
        <p:spPr>
          <a:xfrm>
            <a:off x="16256402" y="1072749"/>
            <a:ext cx="1235879" cy="1235878"/>
          </a:xfrm>
          <a:prstGeom prst="rect">
            <a:avLst/>
          </a:prstGeom>
          <a:solidFill>
            <a:srgbClr val="D9FBFB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#D9FBFB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1E30938-6CDB-6BFE-F081-3BC01DE47DFF}"/>
              </a:ext>
            </a:extLst>
          </p:cNvPr>
          <p:cNvSpPr txBox="1"/>
          <p:nvPr userDrawn="1"/>
        </p:nvSpPr>
        <p:spPr>
          <a:xfrm>
            <a:off x="12602453" y="2256868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5D8FB6F-4038-A48E-3944-75CFF86BC6E9}"/>
              </a:ext>
            </a:extLst>
          </p:cNvPr>
          <p:cNvSpPr txBox="1"/>
          <p:nvPr userDrawn="1"/>
        </p:nvSpPr>
        <p:spPr>
          <a:xfrm>
            <a:off x="14334144" y="2256868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33C697C-BD58-C762-D7B2-B1C7BD994265}"/>
              </a:ext>
            </a:extLst>
          </p:cNvPr>
          <p:cNvSpPr txBox="1"/>
          <p:nvPr userDrawn="1"/>
        </p:nvSpPr>
        <p:spPr>
          <a:xfrm>
            <a:off x="16404771" y="2256868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1B6B609-3034-A032-9492-0D21A0133858}"/>
              </a:ext>
            </a:extLst>
          </p:cNvPr>
          <p:cNvSpPr txBox="1"/>
          <p:nvPr userDrawn="1"/>
        </p:nvSpPr>
        <p:spPr>
          <a:xfrm>
            <a:off x="18206642" y="2256868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112E083-225A-FCF2-1B31-4646DB63D10F}"/>
              </a:ext>
            </a:extLst>
          </p:cNvPr>
          <p:cNvSpPr/>
          <p:nvPr userDrawn="1"/>
        </p:nvSpPr>
        <p:spPr>
          <a:xfrm>
            <a:off x="16222135" y="-2341897"/>
            <a:ext cx="1267863" cy="1267862"/>
          </a:xfrm>
          <a:prstGeom prst="rect">
            <a:avLst/>
          </a:prstGeom>
          <a:solidFill>
            <a:srgbClr val="C1C7CD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#C1C7CD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BC13D9F-EEAD-430D-06B8-45C782CED91B}"/>
              </a:ext>
            </a:extLst>
          </p:cNvPr>
          <p:cNvSpPr/>
          <p:nvPr userDrawn="1"/>
        </p:nvSpPr>
        <p:spPr>
          <a:xfrm>
            <a:off x="16222135" y="-801901"/>
            <a:ext cx="1267863" cy="1267862"/>
          </a:xfrm>
          <a:prstGeom prst="rect">
            <a:avLst/>
          </a:prstGeom>
          <a:solidFill>
            <a:srgbClr val="F2F4F8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#F2F4F8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760C46F-6C02-DF71-D6DE-3AFBD7E8A669}"/>
              </a:ext>
            </a:extLst>
          </p:cNvPr>
          <p:cNvSpPr/>
          <p:nvPr userDrawn="1"/>
        </p:nvSpPr>
        <p:spPr>
          <a:xfrm>
            <a:off x="14397282" y="-2352139"/>
            <a:ext cx="1267863" cy="1267862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3820CE2-CF57-DC5A-A34D-488CCF5FBC23}"/>
              </a:ext>
            </a:extLst>
          </p:cNvPr>
          <p:cNvSpPr/>
          <p:nvPr userDrawn="1"/>
        </p:nvSpPr>
        <p:spPr>
          <a:xfrm>
            <a:off x="14397282" y="-812143"/>
            <a:ext cx="1267863" cy="1267862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0E4F618-46E5-5587-6D5B-2253EE0DE673}"/>
              </a:ext>
            </a:extLst>
          </p:cNvPr>
          <p:cNvSpPr/>
          <p:nvPr userDrawn="1"/>
        </p:nvSpPr>
        <p:spPr>
          <a:xfrm>
            <a:off x="12572429" y="-2309174"/>
            <a:ext cx="1267863" cy="1267862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952FE74-0B33-A1FE-CC7A-6F6931148C3B}"/>
              </a:ext>
            </a:extLst>
          </p:cNvPr>
          <p:cNvSpPr/>
          <p:nvPr userDrawn="1"/>
        </p:nvSpPr>
        <p:spPr>
          <a:xfrm>
            <a:off x="12572429" y="-769178"/>
            <a:ext cx="1267863" cy="1267862"/>
          </a:xfrm>
          <a:prstGeom prst="rect">
            <a:avLst/>
          </a:prstGeom>
          <a:solidFill>
            <a:srgbClr val="78A9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#78A9FF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93FECF2-8510-A783-FEB6-1828E022ABC2}"/>
              </a:ext>
            </a:extLst>
          </p:cNvPr>
          <p:cNvSpPr/>
          <p:nvPr userDrawn="1"/>
        </p:nvSpPr>
        <p:spPr>
          <a:xfrm>
            <a:off x="17993876" y="-2309174"/>
            <a:ext cx="1267863" cy="1267862"/>
          </a:xfrm>
          <a:prstGeom prst="rect">
            <a:avLst/>
          </a:prstGeom>
          <a:solidFill>
            <a:srgbClr val="525252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Labels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#525252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D430874-9126-5113-96BC-D32B42662594}"/>
              </a:ext>
            </a:extLst>
          </p:cNvPr>
          <p:cNvSpPr/>
          <p:nvPr userDrawn="1"/>
        </p:nvSpPr>
        <p:spPr>
          <a:xfrm>
            <a:off x="17993875" y="-812143"/>
            <a:ext cx="1267863" cy="1267862"/>
          </a:xfrm>
          <a:prstGeom prst="rect">
            <a:avLst/>
          </a:prstGeom>
          <a:solidFill>
            <a:srgbClr val="26262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Text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#262626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130DE79-A023-C456-CF32-2DC50D6B0974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01B88B18-377B-36CF-F993-E863B31854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49" name="Graphic 48" hidden="1">
              <a:extLst>
                <a:ext uri="{FF2B5EF4-FFF2-40B4-BE49-F238E27FC236}">
                  <a16:creationId xmlns:a16="http://schemas.microsoft.com/office/drawing/2014/main" id="{CFF47351-CB22-7CAD-473A-98C4C639A50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50" name="Graphic 49" hidden="1">
              <a:extLst>
                <a:ext uri="{FF2B5EF4-FFF2-40B4-BE49-F238E27FC236}">
                  <a16:creationId xmlns:a16="http://schemas.microsoft.com/office/drawing/2014/main" id="{A65E3C19-C42B-7959-2FF7-C6FA021062F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51" name="Graphic 50" hidden="1">
              <a:extLst>
                <a:ext uri="{FF2B5EF4-FFF2-40B4-BE49-F238E27FC236}">
                  <a16:creationId xmlns:a16="http://schemas.microsoft.com/office/drawing/2014/main" id="{498D3811-5C5B-F05A-8B20-E775277211B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52" name="Graphic 51">
            <a:extLst>
              <a:ext uri="{FF2B5EF4-FFF2-40B4-BE49-F238E27FC236}">
                <a16:creationId xmlns:a16="http://schemas.microsoft.com/office/drawing/2014/main" id="{AB9A97E5-F8F7-97D5-EA55-B454D3B152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  <p:sp>
        <p:nvSpPr>
          <p:cNvPr id="53" name="Rectangle 52" hidden="1">
            <a:extLst>
              <a:ext uri="{FF2B5EF4-FFF2-40B4-BE49-F238E27FC236}">
                <a16:creationId xmlns:a16="http://schemas.microsoft.com/office/drawing/2014/main" id="{9ED457AB-ADA9-4005-1771-D8E96F1CB2CC}"/>
              </a:ext>
            </a:extLst>
          </p:cNvPr>
          <p:cNvSpPr/>
          <p:nvPr userDrawn="1"/>
        </p:nvSpPr>
        <p:spPr>
          <a:xfrm>
            <a:off x="-76201" y="6356350"/>
            <a:ext cx="12353925" cy="276797"/>
          </a:xfrm>
          <a:prstGeom prst="rect">
            <a:avLst/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641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66" r:id="rId18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customXml" Target="../ink/ink8.xml"/><Relationship Id="rId3" Type="http://schemas.openxmlformats.org/officeDocument/2006/relationships/image" Target="../media/image12.png"/><Relationship Id="rId7" Type="http://schemas.openxmlformats.org/officeDocument/2006/relationships/customXml" Target="../ink/ink3.xml"/><Relationship Id="rId12" Type="http://schemas.openxmlformats.org/officeDocument/2006/relationships/customXml" Target="../ink/ink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customXml" Target="../ink/ink2.xml"/><Relationship Id="rId11" Type="http://schemas.openxmlformats.org/officeDocument/2006/relationships/customXml" Target="../ink/ink6.xml"/><Relationship Id="rId5" Type="http://schemas.openxmlformats.org/officeDocument/2006/relationships/image" Target="../media/image100.png"/><Relationship Id="rId10" Type="http://schemas.openxmlformats.org/officeDocument/2006/relationships/customXml" Target="../ink/ink5.xml"/><Relationship Id="rId4" Type="http://schemas.openxmlformats.org/officeDocument/2006/relationships/customXml" Target="../ink/ink1.xml"/><Relationship Id="rId9" Type="http://schemas.openxmlformats.org/officeDocument/2006/relationships/image" Target="../media/image110.png"/><Relationship Id="rId14" Type="http://schemas.openxmlformats.org/officeDocument/2006/relationships/customXml" Target="../ink/ink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9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1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0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D5631-0297-E86E-7069-C969B141FD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0"/>
            <a:ext cx="7184719" cy="3556001"/>
          </a:xfrm>
          <a:noFill/>
        </p:spPr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The Analysis of Current and Future Trends in Technical Skills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DF6B8D-2BAC-11F8-7D28-B631D08C8D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10027" y="3731247"/>
            <a:ext cx="9135454" cy="1655762"/>
          </a:xfrm>
          <a:noFill/>
        </p:spPr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Richard Lam </a:t>
            </a:r>
          </a:p>
          <a:p>
            <a:r>
              <a:rPr lang="en-US" dirty="0">
                <a:solidFill>
                  <a:srgbClr val="00B0F0"/>
                </a:solidFill>
              </a:rPr>
              <a:t>5/24/2025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323E2C-8982-861D-BE1D-3E30E5CC4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4718" y="0"/>
            <a:ext cx="5007282" cy="3671888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09730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13BC838-B25A-D37F-BC71-DD6178957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711" y="2025672"/>
            <a:ext cx="3194581" cy="319458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EC79264-7E04-A135-9158-F7EF333AC3D8}"/>
              </a:ext>
            </a:extLst>
          </p:cNvPr>
          <p:cNvSpPr txBox="1">
            <a:spLocks/>
          </p:cNvSpPr>
          <p:nvPr/>
        </p:nvSpPr>
        <p:spPr>
          <a:xfrm>
            <a:off x="782054" y="263810"/>
            <a:ext cx="85085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 dirty="0">
                <a:solidFill>
                  <a:srgbClr val="00B0F0"/>
                </a:solidFill>
              </a:rPr>
              <a:t>OUTLINE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639434-C7DB-C6DD-28C9-5FE3588C5BC8}"/>
              </a:ext>
            </a:extLst>
          </p:cNvPr>
          <p:cNvSpPr txBox="1">
            <a:spLocks/>
          </p:cNvSpPr>
          <p:nvPr/>
        </p:nvSpPr>
        <p:spPr>
          <a:xfrm>
            <a:off x="6172199" y="2423365"/>
            <a:ext cx="5263951" cy="382571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>
                <a:solidFill>
                  <a:srgbClr val="00B0F0"/>
                </a:solidFill>
              </a:rPr>
              <a:t>Executive Summary</a:t>
            </a:r>
          </a:p>
          <a:p>
            <a:r>
              <a:rPr lang="en-US" sz="2200" dirty="0">
                <a:solidFill>
                  <a:srgbClr val="00B0F0"/>
                </a:solidFill>
              </a:rPr>
              <a:t>Introduction</a:t>
            </a:r>
          </a:p>
          <a:p>
            <a:r>
              <a:rPr lang="en-US" sz="2200" dirty="0">
                <a:solidFill>
                  <a:srgbClr val="00B0F0"/>
                </a:solidFill>
              </a:rPr>
              <a:t>Methodology</a:t>
            </a:r>
          </a:p>
          <a:p>
            <a:r>
              <a:rPr lang="en-US" sz="2200" dirty="0">
                <a:solidFill>
                  <a:srgbClr val="00B0F0"/>
                </a:solidFill>
              </a:rPr>
              <a:t>Results</a:t>
            </a:r>
          </a:p>
          <a:p>
            <a:pPr lvl="1"/>
            <a:r>
              <a:rPr lang="en-US" sz="1800" dirty="0">
                <a:solidFill>
                  <a:srgbClr val="00B0F0"/>
                </a:solidFill>
              </a:rPr>
              <a:t>Visualization – Charts</a:t>
            </a:r>
          </a:p>
          <a:p>
            <a:pPr lvl="1"/>
            <a:r>
              <a:rPr lang="en-US" sz="1800" dirty="0">
                <a:solidFill>
                  <a:srgbClr val="00B0F0"/>
                </a:solidFill>
              </a:rPr>
              <a:t>Dashboard</a:t>
            </a:r>
          </a:p>
          <a:p>
            <a:r>
              <a:rPr lang="en-US" sz="2200" dirty="0">
                <a:solidFill>
                  <a:srgbClr val="00B0F0"/>
                </a:solidFill>
              </a:rPr>
              <a:t>Discussion</a:t>
            </a:r>
          </a:p>
          <a:p>
            <a:pPr lvl="1"/>
            <a:r>
              <a:rPr lang="en-US" sz="1800" dirty="0">
                <a:solidFill>
                  <a:srgbClr val="00B0F0"/>
                </a:solidFill>
              </a:rPr>
              <a:t>Findings &amp; Implications</a:t>
            </a:r>
          </a:p>
          <a:p>
            <a:r>
              <a:rPr lang="en-US" sz="2200" dirty="0">
                <a:solidFill>
                  <a:srgbClr val="00B0F0"/>
                </a:solidFill>
              </a:rPr>
              <a:t>Conclusion</a:t>
            </a:r>
          </a:p>
          <a:p>
            <a:r>
              <a:rPr lang="en-US" sz="2200" dirty="0">
                <a:solidFill>
                  <a:srgbClr val="00B0F0"/>
                </a:solidFill>
              </a:rPr>
              <a:t>Appendix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14:cNvPr>
              <p14:cNvContentPartPr/>
              <p14:nvPr/>
            </p14:nvContentPartPr>
            <p14:xfrm>
              <a:off x="1889280" y="999312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99280" y="819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14:cNvPr>
              <p14:cNvContentPartPr/>
              <p14:nvPr/>
            </p14:nvContentPartPr>
            <p14:xfrm>
              <a:off x="2328120" y="962952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38120" y="782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38160" y="74623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240" cy="50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38160" y="758232"/>
                <a:ext cx="182880" cy="3407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14:cNvPr>
              <p14:cNvContentPartPr/>
              <p14:nvPr/>
            </p14:nvContentPartPr>
            <p14:xfrm>
              <a:off x="6680880" y="2877072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90880" y="2697072"/>
                <a:ext cx="180000" cy="36000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453241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48DC5-8A48-2A34-31B9-FC8CB168C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926" y="304965"/>
            <a:ext cx="8565109" cy="1325563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44109-938A-7A63-C3A8-FDDB5C799EA5}"/>
              </a:ext>
            </a:extLst>
          </p:cNvPr>
          <p:cNvSpPr txBox="1">
            <a:spLocks/>
          </p:cNvSpPr>
          <p:nvPr/>
        </p:nvSpPr>
        <p:spPr>
          <a:xfrm>
            <a:off x="4285075" y="2419265"/>
            <a:ext cx="7171578" cy="38175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>
                <a:solidFill>
                  <a:srgbClr val="00B0F0"/>
                </a:solidFill>
              </a:rPr>
              <a:t>Current and future demographic studies in computer programming </a:t>
            </a:r>
            <a:r>
              <a:rPr lang="en-US" sz="2200" dirty="0" err="1">
                <a:solidFill>
                  <a:srgbClr val="00B0F0"/>
                </a:solidFill>
              </a:rPr>
              <a:t>languages,platforms</a:t>
            </a:r>
            <a:r>
              <a:rPr lang="en-US" sz="2200" dirty="0">
                <a:solidFill>
                  <a:srgbClr val="00B0F0"/>
                </a:solidFill>
              </a:rPr>
              <a:t>, </a:t>
            </a:r>
            <a:r>
              <a:rPr lang="en-US" sz="2200" dirty="0" err="1">
                <a:solidFill>
                  <a:srgbClr val="00B0F0"/>
                </a:solidFill>
              </a:rPr>
              <a:t>webframes</a:t>
            </a:r>
            <a:r>
              <a:rPr lang="en-US" sz="2200" dirty="0">
                <a:solidFill>
                  <a:srgbClr val="00B0F0"/>
                </a:solidFill>
              </a:rPr>
              <a:t> and databases</a:t>
            </a:r>
          </a:p>
          <a:p>
            <a:r>
              <a:rPr lang="en-US" sz="2200" dirty="0">
                <a:solidFill>
                  <a:srgbClr val="00B0F0"/>
                </a:solidFill>
              </a:rPr>
              <a:t>Level of education, age, country and gender gap in technological companies</a:t>
            </a:r>
          </a:p>
          <a:p>
            <a:r>
              <a:rPr lang="en-US" sz="2200" dirty="0">
                <a:solidFill>
                  <a:srgbClr val="00B0F0"/>
                </a:solidFill>
              </a:rPr>
              <a:t>Population in the survey</a:t>
            </a:r>
          </a:p>
          <a:p>
            <a:r>
              <a:rPr lang="en-US" sz="2200" dirty="0">
                <a:solidFill>
                  <a:srgbClr val="00B0F0"/>
                </a:solidFill>
              </a:rPr>
              <a:t>Data Wrangling, Analysis and Visualization based on the technical skills and careers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6795A9-FE70-B337-8B17-B79ACA60A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494" y="2302762"/>
            <a:ext cx="3194581" cy="31945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55385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76FB0-8465-86A8-332A-32CC35A5D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7DC8D-244C-F7EC-5F66-ACB99A7D6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021" y="365125"/>
            <a:ext cx="7647865" cy="1325563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CC879F-E713-B75A-D2DE-0953EB0EA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347" y="2262036"/>
            <a:ext cx="3054361" cy="3054361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D35578F-30C9-4905-FD4E-7366FEFAEA7F}"/>
              </a:ext>
            </a:extLst>
          </p:cNvPr>
          <p:cNvSpPr txBox="1">
            <a:spLocks/>
          </p:cNvSpPr>
          <p:nvPr/>
        </p:nvSpPr>
        <p:spPr>
          <a:xfrm>
            <a:off x="4285075" y="1825625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>
                <a:solidFill>
                  <a:srgbClr val="00B0F0"/>
                </a:solidFill>
              </a:rPr>
              <a:t>This data report is about top trends of computer programming languages, databases, platforms and web frames. </a:t>
            </a:r>
          </a:p>
          <a:p>
            <a:r>
              <a:rPr lang="en-US" sz="2200" dirty="0">
                <a:solidFill>
                  <a:srgbClr val="00B0F0"/>
                </a:solidFill>
              </a:rPr>
              <a:t>The purpose of this data presentation is to analyze the technical skills in demography. </a:t>
            </a:r>
          </a:p>
          <a:p>
            <a:r>
              <a:rPr lang="en-US" sz="2200" dirty="0">
                <a:solidFill>
                  <a:srgbClr val="00B0F0"/>
                </a:solidFill>
              </a:rPr>
              <a:t>The main point is that many respondents have or want the technical skills and careers in the demographic data. </a:t>
            </a:r>
          </a:p>
          <a:p>
            <a:r>
              <a:rPr lang="en-US" sz="2200" dirty="0">
                <a:solidFill>
                  <a:srgbClr val="00B0F0"/>
                </a:solidFill>
              </a:rPr>
              <a:t>Audiences and viewers include college professors and students from computer science department and information technology employees and supervisors.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0863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1DCFD-8450-17AD-05D4-229BA1C66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AB7E7-7534-10CB-A359-88015C285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3" y="376642"/>
            <a:ext cx="7230723" cy="1325563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8C842-232A-AE37-3471-90353781809D}"/>
              </a:ext>
            </a:extLst>
          </p:cNvPr>
          <p:cNvSpPr txBox="1">
            <a:spLocks/>
          </p:cNvSpPr>
          <p:nvPr/>
        </p:nvSpPr>
        <p:spPr>
          <a:xfrm>
            <a:off x="4276874" y="2513575"/>
            <a:ext cx="7068725" cy="375359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>
                <a:solidFill>
                  <a:srgbClr val="00B0F0"/>
                </a:solidFill>
              </a:rPr>
              <a:t>Data Collection</a:t>
            </a:r>
          </a:p>
          <a:p>
            <a:pPr lvl="1"/>
            <a:r>
              <a:rPr lang="en-US" sz="1800" dirty="0">
                <a:solidFill>
                  <a:srgbClr val="00B0F0"/>
                </a:solidFill>
              </a:rPr>
              <a:t>Web scraping</a:t>
            </a:r>
          </a:p>
          <a:p>
            <a:pPr lvl="1"/>
            <a:r>
              <a:rPr lang="en-US" sz="1800" dirty="0">
                <a:solidFill>
                  <a:srgbClr val="00B0F0"/>
                </a:solidFill>
              </a:rPr>
              <a:t>APIs</a:t>
            </a:r>
          </a:p>
          <a:p>
            <a:pPr lvl="1"/>
            <a:r>
              <a:rPr lang="en-US" sz="1800" dirty="0">
                <a:solidFill>
                  <a:srgbClr val="00B0F0"/>
                </a:solidFill>
              </a:rPr>
              <a:t>Request library </a:t>
            </a:r>
          </a:p>
          <a:p>
            <a:r>
              <a:rPr lang="en-US" sz="2200" dirty="0">
                <a:solidFill>
                  <a:srgbClr val="00B0F0"/>
                </a:solidFill>
              </a:rPr>
              <a:t>Data Wrangling</a:t>
            </a:r>
          </a:p>
          <a:p>
            <a:pPr lvl="1"/>
            <a:r>
              <a:rPr lang="en-US" sz="1800" dirty="0">
                <a:solidFill>
                  <a:srgbClr val="00B0F0"/>
                </a:solidFill>
              </a:rPr>
              <a:t>Removing duplicate</a:t>
            </a:r>
          </a:p>
          <a:p>
            <a:pPr lvl="1"/>
            <a:r>
              <a:rPr lang="en-US" sz="1800" dirty="0">
                <a:solidFill>
                  <a:srgbClr val="00B0F0"/>
                </a:solidFill>
              </a:rPr>
              <a:t>Removing or replacing the missing values  </a:t>
            </a:r>
            <a:endParaRPr lang="en-US" sz="600" dirty="0">
              <a:solidFill>
                <a:srgbClr val="00B0F0"/>
              </a:solidFill>
            </a:endParaRPr>
          </a:p>
          <a:p>
            <a:r>
              <a:rPr lang="en-US" sz="2200" dirty="0">
                <a:solidFill>
                  <a:srgbClr val="00B0F0"/>
                </a:solidFill>
              </a:rPr>
              <a:t>Exploratory Data Analysis</a:t>
            </a:r>
          </a:p>
          <a:p>
            <a:pPr lvl="1"/>
            <a:r>
              <a:rPr lang="en-US" sz="1800" dirty="0">
                <a:solidFill>
                  <a:srgbClr val="00B0F0"/>
                </a:solidFill>
              </a:rPr>
              <a:t>Handling outliners</a:t>
            </a:r>
          </a:p>
          <a:p>
            <a:pPr lvl="1"/>
            <a:r>
              <a:rPr lang="en-US" sz="1800" dirty="0">
                <a:solidFill>
                  <a:srgbClr val="00B0F0"/>
                </a:solidFill>
              </a:rPr>
              <a:t>Correlation</a:t>
            </a:r>
          </a:p>
          <a:p>
            <a:r>
              <a:rPr lang="en-US" sz="2200" dirty="0">
                <a:solidFill>
                  <a:srgbClr val="00B0F0"/>
                </a:solidFill>
              </a:rPr>
              <a:t>Data Visualization</a:t>
            </a:r>
          </a:p>
          <a:p>
            <a:pPr lvl="1"/>
            <a:r>
              <a:rPr lang="en-US" sz="1800" dirty="0">
                <a:solidFill>
                  <a:srgbClr val="00B0F0"/>
                </a:solidFill>
              </a:rPr>
              <a:t>Comparison and Composition of demographic data</a:t>
            </a:r>
          </a:p>
          <a:p>
            <a:pPr lvl="1"/>
            <a:r>
              <a:rPr lang="en-US" sz="1800" dirty="0">
                <a:solidFill>
                  <a:srgbClr val="00B0F0"/>
                </a:solidFill>
              </a:rPr>
              <a:t>Data relationships  </a:t>
            </a:r>
          </a:p>
          <a:p>
            <a:r>
              <a:rPr lang="en-US" sz="2200" dirty="0">
                <a:solidFill>
                  <a:srgbClr val="00B0F0"/>
                </a:solidFill>
              </a:rPr>
              <a:t>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0CF71F-8A03-DAC7-4BC2-F05644ECB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655" y="1831709"/>
            <a:ext cx="3194581" cy="31945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91692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3F900-F166-BEB7-F740-8C872536D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210DC-B757-47AF-44F4-D6EC9F4BF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1D05E-A3D3-356F-EB51-94E7A1AE2A61}"/>
              </a:ext>
            </a:extLst>
          </p:cNvPr>
          <p:cNvSpPr txBox="1">
            <a:spLocks/>
          </p:cNvSpPr>
          <p:nvPr/>
        </p:nvSpPr>
        <p:spPr>
          <a:xfrm>
            <a:off x="1043114" y="1825625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endParaRPr lang="en-US" sz="1800"/>
          </a:p>
          <a:p>
            <a:pPr marL="0" indent="0">
              <a:buFont typeface="Arial"/>
              <a:buNone/>
            </a:pPr>
            <a:endParaRPr lang="en-US" sz="1800"/>
          </a:p>
          <a:p>
            <a:pPr marL="0" indent="0">
              <a:buFont typeface="Arial"/>
              <a:buNone/>
            </a:pP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FD5740-0355-8A91-2E62-D003B24862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985" y="2421071"/>
            <a:ext cx="10661166" cy="381571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15908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27A2E-C667-F6D3-A1E3-47F70603E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539A591-4DF0-3912-FF72-3FD0BD7B9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B0F0"/>
                </a:solidFill>
              </a:rPr>
              <a:t>PROGRAMMING LANGUAGE TRENDS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4B8C8AD-F58A-1F17-9CA2-E737E19499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22286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Current Year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9FB3B79-D3E9-99FC-ECF2-28CCBF6475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17581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Next Year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DFAC5CF-1B58-ABB4-D63B-1D931D572459}"/>
              </a:ext>
            </a:extLst>
          </p:cNvPr>
          <p:cNvSpPr txBox="1">
            <a:spLocks/>
          </p:cNvSpPr>
          <p:nvPr/>
        </p:nvSpPr>
        <p:spPr>
          <a:xfrm>
            <a:off x="838199" y="2506661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2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8F215C-ABFD-0AD0-A78D-DF28FACA69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578" y="2398856"/>
            <a:ext cx="5740400" cy="383504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33121A8-487C-9990-3337-BFD951A24D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22" y="2398857"/>
            <a:ext cx="5235556" cy="383504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84467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7BF14-48B4-018D-63EE-DF24A5A8C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44DA4-C4B2-2A92-8A96-C527D8D02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rgbClr val="00B0F0"/>
                </a:solidFill>
              </a:rPr>
              <a:t>PROGRAMMING LANGUAGE TRENDS -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5DDBB-31B7-4F81-1E76-90009348F1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Findings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>
                <a:solidFill>
                  <a:srgbClr val="00B0F0"/>
                </a:solidFill>
              </a:rPr>
              <a:t>The amount of C # will increase. </a:t>
            </a:r>
          </a:p>
          <a:p>
            <a:r>
              <a:rPr lang="en-US" dirty="0">
                <a:solidFill>
                  <a:srgbClr val="00B0F0"/>
                </a:solidFill>
              </a:rPr>
              <a:t>There is the interest in Python.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166E7F-5223-7C98-EBC0-E8FA35940F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Implications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>
                <a:solidFill>
                  <a:srgbClr val="00B0F0"/>
                </a:solidFill>
              </a:rPr>
              <a:t>Python will establish in the market.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1288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A0F35-C02C-0C12-3664-049CAC5AF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B430B-2D6C-26E3-5D00-4D061A250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584" y="428768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DATABASE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B3FA5-2985-EAFB-8885-6820D4058A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22286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Current Year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E0AA0B-A66B-F896-65D9-69DDA700D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17581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Next Year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B96806-8F7C-09AE-C28B-BD2B542492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221" y="2398858"/>
            <a:ext cx="5740400" cy="37772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827E4A0-2869-58D9-DB09-CE3A6E9F7D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043" y="2398857"/>
            <a:ext cx="5051178" cy="377720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02887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A6A9C-70D0-119E-38BE-1738DA5AD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97E2B-01DB-9C21-4CF2-1586AB1C3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85" y="365125"/>
            <a:ext cx="12094029" cy="1325563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B0F0"/>
                </a:solidFill>
              </a:rPr>
              <a:t>DATABASE TRENDS -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EC42F-75A2-FA08-F2B6-EB2817BBF8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Findings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r>
              <a:rPr lang="en-US" dirty="0" err="1">
                <a:solidFill>
                  <a:srgbClr val="00B0F0"/>
                </a:solidFill>
              </a:rPr>
              <a:t>Postgre</a:t>
            </a:r>
            <a:r>
              <a:rPr lang="en-US" dirty="0">
                <a:solidFill>
                  <a:srgbClr val="00B0F0"/>
                </a:solidFill>
              </a:rPr>
              <a:t> SQL is the most popular database in the technology. </a:t>
            </a:r>
          </a:p>
          <a:p>
            <a:r>
              <a:rPr lang="en-US" dirty="0">
                <a:solidFill>
                  <a:srgbClr val="00B0F0"/>
                </a:solidFill>
              </a:rPr>
              <a:t>The amount of programmers and developers who works MySQL will decrease in future. </a:t>
            </a:r>
          </a:p>
          <a:p>
            <a:r>
              <a:rPr lang="en-US" dirty="0">
                <a:solidFill>
                  <a:srgbClr val="00B0F0"/>
                </a:solidFill>
              </a:rPr>
              <a:t>The amount of Microsoft SQL Server will decrease in future, but the amount of MongoDB will increase in future.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27B10A-E9C3-5B71-0345-782E28BDB3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Implications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r>
              <a:rPr lang="en-US" dirty="0">
                <a:solidFill>
                  <a:srgbClr val="00B0F0"/>
                </a:solidFill>
              </a:rPr>
              <a:t>SQLite will establish in the market. </a:t>
            </a:r>
          </a:p>
          <a:p>
            <a:endParaRPr lang="en-US" dirty="0">
              <a:solidFill>
                <a:srgbClr val="00B0F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88125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8291F-E27C-74F8-33D3-FF131FC96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B7D73-872E-CFE8-1C38-8422F3838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64183-B387-01E7-21BA-4DA6B1F51815}"/>
              </a:ext>
            </a:extLst>
          </p:cNvPr>
          <p:cNvSpPr txBox="1">
            <a:spLocks/>
          </p:cNvSpPr>
          <p:nvPr/>
        </p:nvSpPr>
        <p:spPr>
          <a:xfrm>
            <a:off x="4285075" y="3142210"/>
            <a:ext cx="7068725" cy="25692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>
                <a:solidFill>
                  <a:srgbClr val="00B0F0"/>
                </a:solidFill>
              </a:rPr>
              <a:t>https://</a:t>
            </a:r>
            <a:r>
              <a:rPr lang="en-US" sz="2200" dirty="0" err="1">
                <a:solidFill>
                  <a:srgbClr val="00B0F0"/>
                </a:solidFill>
              </a:rPr>
              <a:t>datastudio.google.com</a:t>
            </a:r>
            <a:r>
              <a:rPr lang="en-US" sz="2200" dirty="0">
                <a:solidFill>
                  <a:srgbClr val="00B0F0"/>
                </a:solidFill>
              </a:rPr>
              <a:t>/reporting/c7acff36-2028-40be-b1d0-bd4acad88b50/page/p_39ttod3v3d/edit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9822F7-4A79-5E92-9C6D-8A9769182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75" y="1901819"/>
            <a:ext cx="3054361" cy="305436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52198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2F0CA-55D1-0835-20D4-03D017A1D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93914-A678-A34E-C52A-16D0ADAA2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DASHBOARD TAB 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DF6FB9-E3DF-D457-8CCE-E76D5FB4C0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130" y="2445024"/>
            <a:ext cx="10588487" cy="37967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297367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8F23D-B8D7-D0E4-EDC5-E0F023884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F933A-3681-3D82-68EF-62EC07822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DASHBOARD TAB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0B6DE5-8990-322A-6A0C-FDAE00025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81" y="2434727"/>
            <a:ext cx="10631277" cy="382285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484966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A10D3-267F-7A90-5160-775BFEBCA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C0C82-5F1A-F7B1-2C56-5C08240C1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DASHBOARD TAB 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6C5D6B-DEE0-0DFF-4390-C59DF5600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81" y="2445746"/>
            <a:ext cx="10653311" cy="380081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056362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62C0A-56EF-B349-A097-27B4D460D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98769-531F-C6A5-406F-D1C3D2805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DISCUSSION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1F45ECC1-C956-CADF-DDFD-F54C6608E40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2130419" y="2688426"/>
            <a:ext cx="3054361" cy="3054361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67EF50-003F-6BB0-4367-42BB884C77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2427464"/>
            <a:ext cx="5251649" cy="3825719"/>
          </a:xfrm>
        </p:spPr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There are technology trends in current and future times. </a:t>
            </a:r>
          </a:p>
          <a:p>
            <a:r>
              <a:rPr lang="en-US" dirty="0">
                <a:solidFill>
                  <a:srgbClr val="00B0F0"/>
                </a:solidFill>
              </a:rPr>
              <a:t>There are developers and programmers with age and education gap in the technical society.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573335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05330-0589-A550-601A-037CA416F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A8902-AF46-DDE8-D792-7940E18AF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B0F0"/>
                </a:solidFill>
              </a:rPr>
              <a:t>OVERALL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6B89C-35B9-C514-4E9C-FCBE8D68D3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Findings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r>
              <a:rPr lang="en-US" dirty="0">
                <a:solidFill>
                  <a:srgbClr val="00B0F0"/>
                </a:solidFill>
              </a:rPr>
              <a:t>There are 42% of developers and programmers with 25 – 34 years old.</a:t>
            </a:r>
          </a:p>
          <a:p>
            <a:r>
              <a:rPr lang="en-US" dirty="0">
                <a:solidFill>
                  <a:srgbClr val="00B0F0"/>
                </a:solidFill>
              </a:rPr>
              <a:t>There are gender, age and education gaps in the technical society. </a:t>
            </a:r>
          </a:p>
          <a:p>
            <a:r>
              <a:rPr lang="en-US" dirty="0">
                <a:solidFill>
                  <a:srgbClr val="00B0F0"/>
                </a:solidFill>
              </a:rPr>
              <a:t>There is the concentration in the country like the United States.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DBBA5A-826D-FFFD-F1BE-92269842D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Implications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r>
              <a:rPr lang="en-US" dirty="0">
                <a:solidFill>
                  <a:srgbClr val="00B0F0"/>
                </a:solidFill>
              </a:rPr>
              <a:t>There are the younger developers without the postgraduate degree. </a:t>
            </a:r>
          </a:p>
          <a:p>
            <a:r>
              <a:rPr lang="en-US" dirty="0">
                <a:solidFill>
                  <a:srgbClr val="00B0F0"/>
                </a:solidFill>
              </a:rPr>
              <a:t>The developers and Programmers should understand the current and future technology trends.</a:t>
            </a:r>
          </a:p>
          <a:p>
            <a:r>
              <a:rPr lang="en-US" dirty="0">
                <a:solidFill>
                  <a:srgbClr val="00B0F0"/>
                </a:solidFill>
              </a:rPr>
              <a:t>The companies should spread technology out to one of the countries. 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656372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3A16F-6AB5-5C0B-5466-65B2A6AE8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E978FF3-BC93-079A-1687-DD4786B81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CONCLUSION</a:t>
            </a:r>
          </a:p>
        </p:txBody>
      </p:sp>
      <p:pic>
        <p:nvPicPr>
          <p:cNvPr id="13" name="Content Placeholder 5">
            <a:extLst>
              <a:ext uri="{FF2B5EF4-FFF2-40B4-BE49-F238E27FC236}">
                <a16:creationId xmlns:a16="http://schemas.microsoft.com/office/drawing/2014/main" id="{CD985AE9-0D12-3398-B9B7-4395CABF170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125967" y="2113896"/>
            <a:ext cx="3054361" cy="3054361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E75918E-509D-16F8-F478-FA41759FEFE9}"/>
              </a:ext>
            </a:extLst>
          </p:cNvPr>
          <p:cNvSpPr txBox="1">
            <a:spLocks/>
          </p:cNvSpPr>
          <p:nvPr/>
        </p:nvSpPr>
        <p:spPr>
          <a:xfrm>
            <a:off x="4544291" y="2406963"/>
            <a:ext cx="6912362" cy="383802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B0F0"/>
                </a:solidFill>
              </a:rPr>
              <a:t>There are recent and new technology trends</a:t>
            </a:r>
          </a:p>
          <a:p>
            <a:r>
              <a:rPr lang="en-US" dirty="0">
                <a:solidFill>
                  <a:srgbClr val="00B0F0"/>
                </a:solidFill>
              </a:rPr>
              <a:t>There are programmers and developers with age and education. </a:t>
            </a:r>
          </a:p>
          <a:p>
            <a:r>
              <a:rPr lang="en-US" dirty="0">
                <a:solidFill>
                  <a:srgbClr val="00B0F0"/>
                </a:solidFill>
              </a:rPr>
              <a:t>The demographic studies depend on salaries. </a:t>
            </a:r>
          </a:p>
          <a:p>
            <a:r>
              <a:rPr lang="en-US" dirty="0">
                <a:solidFill>
                  <a:srgbClr val="00B0F0"/>
                </a:solidFill>
              </a:rPr>
              <a:t>The programmers and developers focus on databases, computer programming languages, web frames and platforms in current and future trends.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403782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1598F-DBE3-7B78-D1F9-0BA7F7DC7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4A3B939-6057-23B6-25B3-E33A2D205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APPENDIX</a:t>
            </a:r>
          </a:p>
        </p:txBody>
      </p:sp>
      <p:pic>
        <p:nvPicPr>
          <p:cNvPr id="11" name="Content Placeholder 3">
            <a:extLst>
              <a:ext uri="{FF2B5EF4-FFF2-40B4-BE49-F238E27FC236}">
                <a16:creationId xmlns:a16="http://schemas.microsoft.com/office/drawing/2014/main" id="{E8E550E5-7A15-A106-D083-8C1433A790A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055857" y="1849823"/>
            <a:ext cx="3194581" cy="31945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23A56A7-1A60-7FD3-99DA-90C648791C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2398" y="2053733"/>
            <a:ext cx="7080487" cy="407275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601586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C4E31-32FC-4A23-CEF9-98F0BB9F1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334EF5D-2E2A-7FE5-06C6-01ACAB1F4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248" y="383051"/>
            <a:ext cx="5929053" cy="1325563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 JOB POSTINGS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ECED6D-DB0D-21DE-49D2-FF9A5D43F3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165" y="1378935"/>
            <a:ext cx="10644499" cy="48556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353738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DB558-7141-B0CE-D399-712C1073B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2CF5900-71B3-70B0-7CF1-4A1C535AD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248" y="383051"/>
            <a:ext cx="5929053" cy="1325563"/>
          </a:xfrm>
        </p:spPr>
        <p:txBody>
          <a:bodyPr anchor="ctr">
            <a:normAutofit fontScale="90000"/>
          </a:bodyPr>
          <a:lstStyle/>
          <a:p>
            <a:r>
              <a:rPr lang="en-US" dirty="0">
                <a:solidFill>
                  <a:srgbClr val="00B0F0"/>
                </a:solidFill>
              </a:rPr>
              <a:t>POPULAR LANGUAGES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767ACD-99F5-B4B6-22AB-507636B1A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925" y="1310477"/>
            <a:ext cx="10669630" cy="49045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459025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18"/>
  <p:tag name="ARTICULATE_DESIGN_ID_SLIDE_TEMPLATE_SKILL_NETWORK" val="762xjmeN"/>
  <p:tag name="ARTICULATE_DESIGN_ID_IBM DEVELOPER 2018 WHITE BACKGROUND" val="AcyDFp8V"/>
  <p:tag name="ARTICULATE_SLIDE_THUMBNAIL_REFRESH" val="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55be751-a274-42e8-93fb-f39d3b9bccc8">
      <Terms xmlns="http://schemas.microsoft.com/office/infopath/2007/PartnerControls"/>
    </lcf76f155ced4ddcb4097134ff3c332f>
    <TaxCatchAll xmlns="f80a141d-92ca-4d3d-9308-f7e7b1d44ce8" xsi:nil="true"/>
    <AWBlink xmlns="155be751-a274-42e8-93fb-f39d3b9bccc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9" ma:contentTypeDescription="Create a new document." ma:contentTypeScope="" ma:versionID="d7279d4efbac013e02c1e816bc7f7c13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0a3fd1dbe83fc08387abb87098562ef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AWB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bfc8dc1-ab14-4a6b-8a4a-9f7f0b948a9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AWBlink" ma:index="25" nillable="true" ma:displayName="AWB link" ma:description="Author Workbench link" ma:format="Dropdown" ma:internalName="AWBlink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2edd55d-11a0-43df-8094-42adcb6055ca}" ma:internalName="TaxCatchAll" ma:showField="CatchAllData" ma:web="f80a141d-92ca-4d3d-9308-f7e7b1d44ce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4DA07C5-A406-4A0D-B3E6-3856C94AC7F3}">
  <ds:schemaRefs>
    <ds:schemaRef ds:uri="http://purl.org/dc/dcmitype/"/>
    <ds:schemaRef ds:uri="http://purl.org/dc/elements/1.1/"/>
    <ds:schemaRef ds:uri="http://purl.org/dc/terms/"/>
    <ds:schemaRef ds:uri="155be751-a274-42e8-93fb-f39d3b9bccc8"/>
    <ds:schemaRef ds:uri="http://schemas.microsoft.com/office/2006/documentManagement/types"/>
    <ds:schemaRef ds:uri="f80a141d-92ca-4d3d-9308-f7e7b1d44ce8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EAB06F8-DBB4-44C7-AF84-8B098C8B03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5be751-a274-42e8-93fb-f39d3b9bccc8"/>
    <ds:schemaRef ds:uri="f80a141d-92ca-4d3d-9308-f7e7b1d44c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1150</TotalTime>
  <Words>480</Words>
  <Application>Microsoft Macintosh PowerPoint</Application>
  <PresentationFormat>Widescreen</PresentationFormat>
  <Paragraphs>91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Garamond</vt:lpstr>
      <vt:lpstr>IBM Plex Mono</vt:lpstr>
      <vt:lpstr>IBM Plex Sans</vt:lpstr>
      <vt:lpstr>Organic</vt:lpstr>
      <vt:lpstr>The Analysis of Current and Future Trends in Technical Skills </vt:lpstr>
      <vt:lpstr>PowerPoint Presentation</vt:lpstr>
      <vt:lpstr>EXECUTIVE SUMMARY</vt:lpstr>
      <vt:lpstr>INTRODUCTION</vt:lpstr>
      <vt:lpstr>METHODOLOGY</vt:lpstr>
      <vt:lpstr>RESULTS</vt:lpstr>
      <vt:lpstr>PROGRAMMING LANGUAGE TRENDS</vt:lpstr>
      <vt:lpstr>PROGRAMMING LANGUAGE TRENDS - FINDINGS &amp; IMPLICATIONS</vt:lpstr>
      <vt:lpstr>DATABASE TRENDS</vt:lpstr>
      <vt:lpstr>DATABASE TRENDS - FINDINGS &amp; IMPLICATIONS</vt:lpstr>
      <vt:lpstr>DASHBOARD</vt:lpstr>
      <vt:lpstr>DASHBOARD TAB 1</vt:lpstr>
      <vt:lpstr>DASHBOARD TAB 2</vt:lpstr>
      <vt:lpstr>DASHBOARD TAB 3</vt:lpstr>
      <vt:lpstr>DISCUSSION</vt:lpstr>
      <vt:lpstr>OVERALL FINDINGS &amp; IMPLICATIONS</vt:lpstr>
      <vt:lpstr>CONCLUSION</vt:lpstr>
      <vt:lpstr>APPENDIX</vt:lpstr>
      <vt:lpstr> JOB POSTINGS</vt:lpstr>
      <vt:lpstr>POPULAR LANGUAGES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Tori Sleeper</dc:creator>
  <cp:lastModifiedBy>Richard Lam</cp:lastModifiedBy>
  <cp:revision>5</cp:revision>
  <dcterms:created xsi:type="dcterms:W3CDTF">2024-10-30T05:40:03Z</dcterms:created>
  <dcterms:modified xsi:type="dcterms:W3CDTF">2026-05-22T03:06:34Z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  <property fmtid="{D5CDD505-2E9C-101B-9397-08002B2CF9AE}" pid="3" name="MediaServiceImageTags">
    <vt:lpwstr/>
  </property>
  <property fmtid="{D5CDD505-2E9C-101B-9397-08002B2CF9AE}" pid="4" name="ArticulateGUID">
    <vt:lpwstr>07C438A6-8092-445C-AC0D-AE1422093206</vt:lpwstr>
  </property>
  <property fmtid="{D5CDD505-2E9C-101B-9397-08002B2CF9AE}" pid="5" name="ArticulatePath">
    <vt:lpwstr>https://skilluptech.sharepoint.com/sites/Coursera/Shared Documents/General/PPT template/IBM Skills Network PPT Template 01.2023</vt:lpwstr>
  </property>
</Properties>
</file>