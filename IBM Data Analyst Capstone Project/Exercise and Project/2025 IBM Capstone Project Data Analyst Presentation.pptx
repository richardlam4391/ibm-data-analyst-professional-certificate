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4" r:id="rId4"/>
  </p:sldMasterIdLst>
  <p:notesMasterIdLst>
    <p:notesMasterId r:id="rId2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x="12192000" cy="6858000"/>
  <p:notesSz cx="9601200" cy="7315200"/>
  <p:custDataLst>
    <p:tags r:id="rId26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744" userDrawn="1">
          <p15:clr>
            <a:srgbClr val="A4A3A4"/>
          </p15:clr>
        </p15:guide>
        <p15:guide id="2" pos="28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BD3AA52-0FB4-F6D0-6D07-1A3D2D9FD3FC}" name="Marianne Seidler" initials="MS" userId="S::mariannes@skillup.tech::bb0b4178-c940-4a9a-9c5e-e97bf5d50d86" providerId="AD"/>
  <p188:author id="{F554C3DC-94B8-9F7D-83FC-6D4CEC0DE845}" name="Dawn Teel-Friedman" initials="DTF" userId="Dawn Teel-Friedman" providerId="None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ose Malcolm" initials="RM" lastIdx="1" clrIdx="0">
    <p:extLst>
      <p:ext uri="{19B8F6BF-5375-455C-9EA6-DF929625EA0E}">
        <p15:presenceInfo xmlns:p15="http://schemas.microsoft.com/office/powerpoint/2012/main" userId="Rose Malcolm" providerId="None"/>
      </p:ext>
    </p:extLst>
  </p:cmAuthor>
  <p:cmAuthor id="2" name="Rose Malcolm" initials="RM [2]" lastIdx="7" clrIdx="1">
    <p:extLst>
      <p:ext uri="{19B8F6BF-5375-455C-9EA6-DF929625EA0E}">
        <p15:presenceInfo xmlns:p15="http://schemas.microsoft.com/office/powerpoint/2012/main" userId="17c9fa32013483c0" providerId="Windows Live"/>
      </p:ext>
    </p:extLst>
  </p:cmAuthor>
  <p:cmAuthor id="3" name="Ramesh Sannareddy" initials="RS" lastIdx="7" clrIdx="2">
    <p:extLst>
      <p:ext uri="{19B8F6BF-5375-455C-9EA6-DF929625EA0E}">
        <p15:presenceInfo xmlns:p15="http://schemas.microsoft.com/office/powerpoint/2012/main" userId="YZ5PSXVD06EfD4/04RF+4IpszM4ZmL7FtUZDJf4jPLA=" providerId="None"/>
      </p:ext>
    </p:extLst>
  </p:cmAuthor>
  <p:cmAuthor id="4" name="UPKAR LIDDER" initials="UL" lastIdx="2" clrIdx="3"/>
  <p:cmAuthor id="5" name="Beth Larsen" initials="BL" lastIdx="1" clrIdx="4">
    <p:extLst>
      <p:ext uri="{19B8F6BF-5375-455C-9EA6-DF929625EA0E}">
        <p15:presenceInfo xmlns:p15="http://schemas.microsoft.com/office/powerpoint/2012/main" userId="04edb8684ac0beb8" providerId="Windows Live"/>
      </p:ext>
    </p:extLst>
  </p:cmAuthor>
  <p:cmAuthor id="6" name="Matt Ockenfels" initials="MO" lastIdx="1" clrIdx="5">
    <p:extLst>
      <p:ext uri="{19B8F6BF-5375-455C-9EA6-DF929625EA0E}">
        <p15:presenceInfo xmlns:p15="http://schemas.microsoft.com/office/powerpoint/2012/main" userId="S::matto@skillup.tech::1f5f8b86-5465-4302-9a82-9a36d055e8b7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2C3"/>
    <a:srgbClr val="007D79"/>
    <a:srgbClr val="D02670"/>
    <a:srgbClr val="231F20"/>
    <a:srgbClr val="33B1FF"/>
    <a:srgbClr val="262626"/>
    <a:srgbClr val="525252"/>
    <a:srgbClr val="BE95FF"/>
    <a:srgbClr val="FFFFFF"/>
    <a:srgbClr val="C1C7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A40921-6633-0345-BD6F-C4F6FB0601DE}" v="2" dt="2026-02-02T01:18:12.031"/>
  </p1510:revLst>
</p1510:revInfo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18" autoAdjust="0"/>
    <p:restoredTop sz="91497" autoAdjust="0"/>
  </p:normalViewPr>
  <p:slideViewPr>
    <p:cSldViewPr snapToGrid="0">
      <p:cViewPr varScale="1">
        <p:scale>
          <a:sx n="117" d="100"/>
          <a:sy n="117" d="100"/>
        </p:scale>
        <p:origin x="640" y="168"/>
      </p:cViewPr>
      <p:guideLst>
        <p:guide orient="horz" pos="744"/>
        <p:guide pos="28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gs" Target="tags/tag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commentAuthors" Target="commentAuthors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hard Lam" userId="8767ac5fea7c8a93" providerId="LiveId" clId="{15E64987-CBD7-5AE7-B736-2793F33F0B17}"/>
    <pc:docChg chg="modSld">
      <pc:chgData name="Richard Lam" userId="8767ac5fea7c8a93" providerId="LiveId" clId="{15E64987-CBD7-5AE7-B736-2793F33F0B17}" dt="2026-02-02T01:18:12.031" v="1"/>
      <pc:docMkLst>
        <pc:docMk/>
      </pc:docMkLst>
      <pc:sldChg chg="modSp">
        <pc:chgData name="Richard Lam" userId="8767ac5fea7c8a93" providerId="LiveId" clId="{15E64987-CBD7-5AE7-B736-2793F33F0B17}" dt="2026-02-02T01:18:12.031" v="1"/>
        <pc:sldMkLst>
          <pc:docMk/>
          <pc:sldMk cId="175219845" sldId="266"/>
        </pc:sldMkLst>
        <pc:spChg chg="mod">
          <ac:chgData name="Richard Lam" userId="8767ac5fea7c8a93" providerId="LiveId" clId="{15E64987-CBD7-5AE7-B736-2793F33F0B17}" dt="2026-02-02T01:18:12.031" v="1"/>
          <ac:spMkLst>
            <pc:docMk/>
            <pc:sldMk cId="175219845" sldId="266"/>
            <ac:spMk id="3" creationId="{25C64183-B387-01E7-21BA-4DA6B1F5181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8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89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0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0,'0'0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1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0,'6'0,"-4"6,-2 2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2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3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4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5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4-10-30T05:40:55.096"/>
    </inkml:context>
    <inkml:brush xml:id="br0">
      <inkml:brushProperty name="width" value="0.5" units="cm"/>
      <inkml:brushProperty name="height" value="1" units="cm"/>
      <inkml:brushProperty name="color" value="#FFFFFF"/>
      <inkml:brushProperty name="tip" value="rectangle"/>
      <inkml:brushProperty name="rasterOp" value="maskPen"/>
      <inkml:brushProperty name="ignorePressure" value="1"/>
    </inkml:brush>
  </inkml:definitions>
  <inkml:trace contextRef="#ctx0" brushRef="#br0">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160520" cy="1806919"/>
          </a:xfrm>
          <a:prstGeom prst="rect">
            <a:avLst/>
          </a:prstGeom>
        </p:spPr>
        <p:txBody>
          <a:bodyPr vert="horz" lIns="177476" tIns="88738" rIns="177476" bIns="88738" rtlCol="0"/>
          <a:lstStyle>
            <a:lvl1pPr algn="l">
              <a:defRPr sz="2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438458" y="0"/>
            <a:ext cx="4160520" cy="1806919"/>
          </a:xfrm>
          <a:prstGeom prst="rect">
            <a:avLst/>
          </a:prstGeom>
        </p:spPr>
        <p:txBody>
          <a:bodyPr vert="horz" lIns="177476" tIns="88738" rIns="177476" bIns="88738" rtlCol="0"/>
          <a:lstStyle>
            <a:lvl1pPr algn="r">
              <a:defRPr sz="2300"/>
            </a:lvl1pPr>
          </a:lstStyle>
          <a:p>
            <a:fld id="{9E497948-54D2-43F8-9A63-A99FE3051738}" type="datetimeFigureOut">
              <a:rPr lang="en-US" smtClean="0"/>
              <a:t>2/1/26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6002338" y="4502150"/>
            <a:ext cx="21605876" cy="12153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77476" tIns="88738" rIns="177476" bIns="88738" rtlCol="0" anchor="ctr"/>
          <a:lstStyle/>
          <a:p>
            <a:r>
              <a:rPr lang="en-US"/>
              <a:t> </a:t>
            </a: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60120" y="17331397"/>
            <a:ext cx="7680960" cy="14180234"/>
          </a:xfrm>
          <a:prstGeom prst="rect">
            <a:avLst/>
          </a:prstGeom>
        </p:spPr>
        <p:txBody>
          <a:bodyPr vert="horz" lIns="177476" tIns="88738" rIns="177476" bIns="887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34206379"/>
            <a:ext cx="4160520" cy="1806915"/>
          </a:xfrm>
          <a:prstGeom prst="rect">
            <a:avLst/>
          </a:prstGeom>
        </p:spPr>
        <p:txBody>
          <a:bodyPr vert="horz" lIns="177476" tIns="88738" rIns="177476" bIns="88738" rtlCol="0" anchor="b"/>
          <a:lstStyle>
            <a:lvl1pPr algn="l">
              <a:defRPr sz="2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438458" y="34206379"/>
            <a:ext cx="4160520" cy="1806915"/>
          </a:xfrm>
          <a:prstGeom prst="rect">
            <a:avLst/>
          </a:prstGeom>
        </p:spPr>
        <p:txBody>
          <a:bodyPr vert="horz" lIns="177476" tIns="88738" rIns="177476" bIns="88738" rtlCol="0" anchor="b"/>
          <a:lstStyle>
            <a:lvl1pPr algn="r">
              <a:defRPr sz="2300"/>
            </a:lvl1pPr>
          </a:lstStyle>
          <a:p>
            <a:fld id="{EEBDA0E2-FEBD-4B65-8F16-724CF984F37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222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3.png"/><Relationship Id="rId7" Type="http://schemas.openxmlformats.org/officeDocument/2006/relationships/image" Target="../media/image9.sv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1308DBB1-118B-EF68-A252-7655AC48B836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9" name="Graphic 8">
              <a:extLst>
                <a:ext uri="{FF2B5EF4-FFF2-40B4-BE49-F238E27FC236}">
                  <a16:creationId xmlns:a16="http://schemas.microsoft.com/office/drawing/2014/main" id="{C0207783-9544-6926-8401-41F5D42CB8B8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10" name="Graphic 9" hidden="1">
              <a:extLst>
                <a:ext uri="{FF2B5EF4-FFF2-40B4-BE49-F238E27FC236}">
                  <a16:creationId xmlns:a16="http://schemas.microsoft.com/office/drawing/2014/main" id="{988AEB5A-8144-DD9A-E1A4-7997F245BF4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11" name="Graphic 10" hidden="1">
              <a:extLst>
                <a:ext uri="{FF2B5EF4-FFF2-40B4-BE49-F238E27FC236}">
                  <a16:creationId xmlns:a16="http://schemas.microsoft.com/office/drawing/2014/main" id="{611FE700-C2A3-8398-3F18-5EF923CC93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12" name="Graphic 11" hidden="1">
              <a:extLst>
                <a:ext uri="{FF2B5EF4-FFF2-40B4-BE49-F238E27FC236}">
                  <a16:creationId xmlns:a16="http://schemas.microsoft.com/office/drawing/2014/main" id="{7D2C16E3-5584-7EDE-F652-5E9666F1C1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13" name="Graphic 12">
            <a:extLst>
              <a:ext uri="{FF2B5EF4-FFF2-40B4-BE49-F238E27FC236}">
                <a16:creationId xmlns:a16="http://schemas.microsoft.com/office/drawing/2014/main" id="{3BE0DBE3-670F-3EC6-4045-018CF7187B13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433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dirty="0"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80199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8932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dirty="0"/>
              <a:t>2/1/26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0333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60671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721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0943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33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81657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9712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549751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3923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6691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39755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75932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425745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41078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7934645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8.png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7.sv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29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6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microsoft.com/office/2007/relationships/hdphoto" Target="../media/hdphoto1.wdp"/><Relationship Id="rId28" Type="http://schemas.openxmlformats.org/officeDocument/2006/relationships/image" Target="../media/image10.png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Relationship Id="rId27" Type="http://schemas.openxmlformats.org/officeDocument/2006/relationships/image" Target="../media/image9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2/1/26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12" name="Picture 11" descr="Text, logo&#10;&#10;Description automatically generated">
            <a:extLst>
              <a:ext uri="{FF2B5EF4-FFF2-40B4-BE49-F238E27FC236}">
                <a16:creationId xmlns:a16="http://schemas.microsoft.com/office/drawing/2014/main" id="{33C71E95-E795-9CA6-8D02-90B8FA0EE9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>
            <a:alphaModFix amt="5000"/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saturation sat="155000"/>
                    </a14:imgEffect>
                    <a14:imgEffect>
                      <a14:brightnessContrast contrast="-77000"/>
                    </a14:imgEffect>
                  </a14:imgLayer>
                </a14:imgProps>
              </a:ext>
            </a:extLst>
          </a:blip>
          <a:srcRect l="-1923" r="70315"/>
          <a:stretch/>
        </p:blipFill>
        <p:spPr>
          <a:xfrm>
            <a:off x="3345127" y="1418811"/>
            <a:ext cx="5501746" cy="482613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8062997-E2FA-0FA0-439E-B3860D018028}"/>
              </a:ext>
            </a:extLst>
          </p:cNvPr>
          <p:cNvSpPr/>
          <p:nvPr userDrawn="1"/>
        </p:nvSpPr>
        <p:spPr>
          <a:xfrm>
            <a:off x="12625444" y="2728308"/>
            <a:ext cx="1235879" cy="1235878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D64DFFF-E58E-A827-7EB3-DB822423DA2F}"/>
              </a:ext>
            </a:extLst>
          </p:cNvPr>
          <p:cNvSpPr/>
          <p:nvPr userDrawn="1"/>
        </p:nvSpPr>
        <p:spPr>
          <a:xfrm>
            <a:off x="18071881" y="2728308"/>
            <a:ext cx="1235879" cy="1235878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137BAA4-0E1D-C497-4A16-6A9B5B1DC38D}"/>
              </a:ext>
            </a:extLst>
          </p:cNvPr>
          <p:cNvSpPr/>
          <p:nvPr userDrawn="1"/>
        </p:nvSpPr>
        <p:spPr>
          <a:xfrm>
            <a:off x="14440923" y="2728308"/>
            <a:ext cx="1235879" cy="1235878"/>
          </a:xfrm>
          <a:prstGeom prst="rect">
            <a:avLst/>
          </a:prstGeom>
          <a:solidFill>
            <a:srgbClr val="FF7EB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#FF7EB6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65173E-1A80-F696-20AD-A36B1591E493}"/>
              </a:ext>
            </a:extLst>
          </p:cNvPr>
          <p:cNvSpPr/>
          <p:nvPr userDrawn="1"/>
        </p:nvSpPr>
        <p:spPr>
          <a:xfrm>
            <a:off x="16256402" y="2728308"/>
            <a:ext cx="1235879" cy="1235878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2E51BA-1695-ED0E-87DA-2C32A245C2CB}"/>
              </a:ext>
            </a:extLst>
          </p:cNvPr>
          <p:cNvSpPr txBox="1"/>
          <p:nvPr userDrawn="1"/>
        </p:nvSpPr>
        <p:spPr>
          <a:xfrm>
            <a:off x="12602453" y="3912427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4FE37A-7239-3830-4C21-928CB110BC0E}"/>
              </a:ext>
            </a:extLst>
          </p:cNvPr>
          <p:cNvSpPr txBox="1"/>
          <p:nvPr userDrawn="1"/>
        </p:nvSpPr>
        <p:spPr>
          <a:xfrm>
            <a:off x="14334144" y="3912427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27444A-0F43-30EF-8054-C3A82466AD8D}"/>
              </a:ext>
            </a:extLst>
          </p:cNvPr>
          <p:cNvSpPr txBox="1"/>
          <p:nvPr userDrawn="1"/>
        </p:nvSpPr>
        <p:spPr>
          <a:xfrm>
            <a:off x="16404771" y="3912427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4BCE7E-C41A-101C-B1C7-C179CAF18C77}"/>
              </a:ext>
            </a:extLst>
          </p:cNvPr>
          <p:cNvSpPr txBox="1"/>
          <p:nvPr userDrawn="1"/>
        </p:nvSpPr>
        <p:spPr>
          <a:xfrm>
            <a:off x="18206642" y="3912427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40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DCB7998-6099-B61D-68AB-D2435DF7F179}"/>
              </a:ext>
            </a:extLst>
          </p:cNvPr>
          <p:cNvSpPr/>
          <p:nvPr userDrawn="1"/>
        </p:nvSpPr>
        <p:spPr>
          <a:xfrm>
            <a:off x="12625444" y="4418033"/>
            <a:ext cx="1235879" cy="1235878"/>
          </a:xfrm>
          <a:prstGeom prst="rect">
            <a:avLst/>
          </a:prstGeom>
          <a:solidFill>
            <a:srgbClr val="8A3FFC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#8A3FFC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C2940D8-0929-5F42-0F0D-824C530E5DB0}"/>
              </a:ext>
            </a:extLst>
          </p:cNvPr>
          <p:cNvSpPr/>
          <p:nvPr userDrawn="1"/>
        </p:nvSpPr>
        <p:spPr>
          <a:xfrm>
            <a:off x="18071881" y="4418033"/>
            <a:ext cx="1235879" cy="1235878"/>
          </a:xfrm>
          <a:prstGeom prst="rect">
            <a:avLst/>
          </a:prstGeom>
          <a:solidFill>
            <a:srgbClr val="0072C3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#0072C3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7AC565-C7AA-29B0-B549-2B60FDC06574}"/>
              </a:ext>
            </a:extLst>
          </p:cNvPr>
          <p:cNvSpPr/>
          <p:nvPr userDrawn="1"/>
        </p:nvSpPr>
        <p:spPr>
          <a:xfrm>
            <a:off x="14440923" y="4418033"/>
            <a:ext cx="1235879" cy="1235878"/>
          </a:xfrm>
          <a:prstGeom prst="rect">
            <a:avLst/>
          </a:prstGeom>
          <a:solidFill>
            <a:srgbClr val="D02670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#D02670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B2E498-7269-9C11-78A0-79F4B506E59F}"/>
              </a:ext>
            </a:extLst>
          </p:cNvPr>
          <p:cNvSpPr/>
          <p:nvPr userDrawn="1"/>
        </p:nvSpPr>
        <p:spPr>
          <a:xfrm>
            <a:off x="16256402" y="4418033"/>
            <a:ext cx="1235879" cy="1235878"/>
          </a:xfrm>
          <a:prstGeom prst="rect">
            <a:avLst/>
          </a:prstGeom>
          <a:solidFill>
            <a:srgbClr val="007D7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#007D79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A11F031-DCD2-3451-7B96-F77DD9D3F87D}"/>
              </a:ext>
            </a:extLst>
          </p:cNvPr>
          <p:cNvSpPr txBox="1"/>
          <p:nvPr userDrawn="1"/>
        </p:nvSpPr>
        <p:spPr>
          <a:xfrm>
            <a:off x="12602453" y="5602152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D6E2B3-351A-C787-611B-E3200DFBA1C0}"/>
              </a:ext>
            </a:extLst>
          </p:cNvPr>
          <p:cNvSpPr txBox="1"/>
          <p:nvPr userDrawn="1"/>
        </p:nvSpPr>
        <p:spPr>
          <a:xfrm>
            <a:off x="14334144" y="5602152"/>
            <a:ext cx="14480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9396E5E-C857-71D1-F20D-135FA3A9CE9A}"/>
              </a:ext>
            </a:extLst>
          </p:cNvPr>
          <p:cNvSpPr txBox="1"/>
          <p:nvPr userDrawn="1"/>
        </p:nvSpPr>
        <p:spPr>
          <a:xfrm>
            <a:off x="16404771" y="5602152"/>
            <a:ext cx="9669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D4E7B9-19FD-E323-C92C-2578A489AEB5}"/>
              </a:ext>
            </a:extLst>
          </p:cNvPr>
          <p:cNvSpPr txBox="1"/>
          <p:nvPr userDrawn="1"/>
        </p:nvSpPr>
        <p:spPr>
          <a:xfrm>
            <a:off x="18206642" y="5602152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60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844CFC-6CDD-CB82-B288-B59E66BAA45E}"/>
              </a:ext>
            </a:extLst>
          </p:cNvPr>
          <p:cNvSpPr/>
          <p:nvPr userDrawn="1"/>
        </p:nvSpPr>
        <p:spPr>
          <a:xfrm>
            <a:off x="19512379" y="2712316"/>
            <a:ext cx="1267863" cy="1267862"/>
          </a:xfrm>
          <a:prstGeom prst="rect">
            <a:avLst/>
          </a:prstGeom>
          <a:solidFill>
            <a:srgbClr val="121619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FFFFFF"/>
                </a:solidFill>
                <a:effectLst/>
                <a:latin typeface="IBM Plex Mono" panose="020B0509050203000203" pitchFamily="49" charset="0"/>
              </a:rPr>
              <a:t>000000</a:t>
            </a:r>
            <a:endParaRPr lang="en-US" dirty="0">
              <a:solidFill>
                <a:schemeClr val="bg2"/>
              </a:solidFill>
              <a:latin typeface="IBM Plex Sans" panose="020B0503050203000203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FC33EA-DCDA-D2C4-676E-63AF518C103F}"/>
              </a:ext>
            </a:extLst>
          </p:cNvPr>
          <p:cNvSpPr/>
          <p:nvPr userDrawn="1"/>
        </p:nvSpPr>
        <p:spPr>
          <a:xfrm>
            <a:off x="19510690" y="4403963"/>
            <a:ext cx="1264019" cy="1264018"/>
          </a:xfrm>
          <a:prstGeom prst="rect">
            <a:avLst/>
          </a:prstGeom>
          <a:solidFill>
            <a:srgbClr val="FFFF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Icon</a:t>
            </a:r>
          </a:p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</a:t>
            </a:r>
            <a:r>
              <a:rPr lang="en-US" b="0" i="0" dirty="0">
                <a:solidFill>
                  <a:srgbClr val="262626"/>
                </a:solidFill>
                <a:effectLst/>
                <a:latin typeface="IBM Plex Mono" panose="020B0509050203000203" pitchFamily="49" charset="0"/>
              </a:rPr>
              <a:t>FFFFFF</a:t>
            </a:r>
            <a:endParaRPr lang="en-US" dirty="0">
              <a:solidFill>
                <a:srgbClr val="262626"/>
              </a:solidFill>
              <a:latin typeface="IBM Plex Sans" panose="020B0503050203000203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3CE115C-1332-0D5F-843D-D7808D506BA8}"/>
              </a:ext>
            </a:extLst>
          </p:cNvPr>
          <p:cNvSpPr/>
          <p:nvPr userDrawn="1"/>
        </p:nvSpPr>
        <p:spPr>
          <a:xfrm>
            <a:off x="12625444" y="1072749"/>
            <a:ext cx="1235879" cy="1235878"/>
          </a:xfrm>
          <a:prstGeom prst="rect">
            <a:avLst/>
          </a:prstGeom>
          <a:solidFill>
            <a:srgbClr val="F6F2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#F6F2FF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6877828-BC95-8705-7E91-008BC30C0395}"/>
              </a:ext>
            </a:extLst>
          </p:cNvPr>
          <p:cNvSpPr/>
          <p:nvPr userDrawn="1"/>
        </p:nvSpPr>
        <p:spPr>
          <a:xfrm>
            <a:off x="18071881" y="1072749"/>
            <a:ext cx="1235879" cy="1235878"/>
          </a:xfrm>
          <a:prstGeom prst="rect">
            <a:avLst/>
          </a:prstGeom>
          <a:solidFill>
            <a:srgbClr val="E5F6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#E5F6FF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2E3D5A5-B854-E693-EE77-1593C660339E}"/>
              </a:ext>
            </a:extLst>
          </p:cNvPr>
          <p:cNvSpPr/>
          <p:nvPr userDrawn="1"/>
        </p:nvSpPr>
        <p:spPr>
          <a:xfrm>
            <a:off x="14440923" y="1072749"/>
            <a:ext cx="1235879" cy="1235878"/>
          </a:xfrm>
          <a:prstGeom prst="rect">
            <a:avLst/>
          </a:prstGeom>
          <a:solidFill>
            <a:srgbClr val="FFF0F7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#FFF0F7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D8A3B77-51FA-258A-F344-DC048912172F}"/>
              </a:ext>
            </a:extLst>
          </p:cNvPr>
          <p:cNvSpPr/>
          <p:nvPr userDrawn="1"/>
        </p:nvSpPr>
        <p:spPr>
          <a:xfrm>
            <a:off x="16256402" y="1072749"/>
            <a:ext cx="1235879" cy="1235878"/>
          </a:xfrm>
          <a:prstGeom prst="rect">
            <a:avLst/>
          </a:prstGeom>
          <a:solidFill>
            <a:srgbClr val="D9FBFB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262626"/>
                </a:solidFill>
                <a:latin typeface="IBM Plex Sans" panose="020B0503050203000203" pitchFamily="34" charset="0"/>
              </a:rPr>
              <a:t>#D9FBFB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E30938-6CDB-6BFE-F081-3BC01DE47DFF}"/>
              </a:ext>
            </a:extLst>
          </p:cNvPr>
          <p:cNvSpPr txBox="1"/>
          <p:nvPr userDrawn="1"/>
        </p:nvSpPr>
        <p:spPr>
          <a:xfrm>
            <a:off x="12602453" y="2256868"/>
            <a:ext cx="1237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0" dirty="0">
                <a:solidFill>
                  <a:srgbClr val="FFFFFF"/>
                </a:solidFill>
                <a:effectLst/>
              </a:rPr>
              <a:t>Purple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D8FB6F-4038-A48E-3944-75CFF86BC6E9}"/>
              </a:ext>
            </a:extLst>
          </p:cNvPr>
          <p:cNvSpPr txBox="1"/>
          <p:nvPr userDrawn="1"/>
        </p:nvSpPr>
        <p:spPr>
          <a:xfrm>
            <a:off x="14334144" y="2256868"/>
            <a:ext cx="1449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Magenta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3C697C-BD58-C762-D7B2-B1C7BD994265}"/>
              </a:ext>
            </a:extLst>
          </p:cNvPr>
          <p:cNvSpPr txBox="1"/>
          <p:nvPr userDrawn="1"/>
        </p:nvSpPr>
        <p:spPr>
          <a:xfrm>
            <a:off x="16404771" y="2256868"/>
            <a:ext cx="9663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Teal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B6B609-3034-A032-9492-0D21A0133858}"/>
              </a:ext>
            </a:extLst>
          </p:cNvPr>
          <p:cNvSpPr txBox="1"/>
          <p:nvPr userDrawn="1"/>
        </p:nvSpPr>
        <p:spPr>
          <a:xfrm>
            <a:off x="18206642" y="2256868"/>
            <a:ext cx="105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FFFF"/>
                </a:solidFill>
              </a:rPr>
              <a:t>Cyan</a:t>
            </a:r>
            <a:r>
              <a:rPr lang="en-US" b="1" i="0" dirty="0">
                <a:solidFill>
                  <a:srgbClr val="FFFFFF"/>
                </a:solidFill>
                <a:effectLst/>
              </a:rPr>
              <a:t> 10</a:t>
            </a:r>
            <a:endParaRPr lang="en-US" b="1" dirty="0">
              <a:solidFill>
                <a:srgbClr val="FFFFFF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E112E083-225A-FCF2-1B31-4646DB63D10F}"/>
              </a:ext>
            </a:extLst>
          </p:cNvPr>
          <p:cNvSpPr/>
          <p:nvPr userDrawn="1"/>
        </p:nvSpPr>
        <p:spPr>
          <a:xfrm>
            <a:off x="16222135" y="-2341897"/>
            <a:ext cx="1267863" cy="1267862"/>
          </a:xfrm>
          <a:prstGeom prst="rect">
            <a:avLst/>
          </a:prstGeom>
          <a:solidFill>
            <a:srgbClr val="C1C7CD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#C1C7CD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BC13D9F-EEAD-430D-06B8-45C782CED91B}"/>
              </a:ext>
            </a:extLst>
          </p:cNvPr>
          <p:cNvSpPr/>
          <p:nvPr userDrawn="1"/>
        </p:nvSpPr>
        <p:spPr>
          <a:xfrm>
            <a:off x="16222135" y="-801901"/>
            <a:ext cx="1267863" cy="1267862"/>
          </a:xfrm>
          <a:prstGeom prst="rect">
            <a:avLst/>
          </a:prstGeom>
          <a:solidFill>
            <a:srgbClr val="F2F4F8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#F2F4F8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760C46F-6C02-DF71-D6DE-3AFBD7E8A669}"/>
              </a:ext>
            </a:extLst>
          </p:cNvPr>
          <p:cNvSpPr/>
          <p:nvPr userDrawn="1"/>
        </p:nvSpPr>
        <p:spPr>
          <a:xfrm>
            <a:off x="14397282" y="-2352139"/>
            <a:ext cx="1267863" cy="1267862"/>
          </a:xfrm>
          <a:prstGeom prst="rect">
            <a:avLst/>
          </a:prstGeom>
          <a:solidFill>
            <a:srgbClr val="BE95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#BE95FF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3820CE2-CF57-DC5A-A34D-488CCF5FBC23}"/>
              </a:ext>
            </a:extLst>
          </p:cNvPr>
          <p:cNvSpPr/>
          <p:nvPr userDrawn="1"/>
        </p:nvSpPr>
        <p:spPr>
          <a:xfrm>
            <a:off x="14397282" y="-812143"/>
            <a:ext cx="1267863" cy="1267862"/>
          </a:xfrm>
          <a:prstGeom prst="rect">
            <a:avLst/>
          </a:prstGeom>
          <a:solidFill>
            <a:srgbClr val="33B1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#33B1FF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40E4F618-46E5-5587-6D5B-2253EE0DE673}"/>
              </a:ext>
            </a:extLst>
          </p:cNvPr>
          <p:cNvSpPr/>
          <p:nvPr userDrawn="1"/>
        </p:nvSpPr>
        <p:spPr>
          <a:xfrm>
            <a:off x="12572429" y="-2309174"/>
            <a:ext cx="1267863" cy="1267862"/>
          </a:xfrm>
          <a:prstGeom prst="rect">
            <a:avLst/>
          </a:prstGeom>
          <a:solidFill>
            <a:srgbClr val="08BDBA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#08BDBA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952FE74-0B33-A1FE-CC7A-6F6931148C3B}"/>
              </a:ext>
            </a:extLst>
          </p:cNvPr>
          <p:cNvSpPr/>
          <p:nvPr userDrawn="1"/>
        </p:nvSpPr>
        <p:spPr>
          <a:xfrm>
            <a:off x="12572429" y="-769178"/>
            <a:ext cx="1267863" cy="1267862"/>
          </a:xfrm>
          <a:prstGeom prst="rect">
            <a:avLst/>
          </a:prstGeom>
          <a:solidFill>
            <a:srgbClr val="78A9FF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Text BG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IBM Plex Sans" panose="020B0503050203000203" pitchFamily="34" charset="0"/>
              </a:rPr>
              <a:t>#78A9FF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93FECF2-8510-A783-FEB6-1828E022ABC2}"/>
              </a:ext>
            </a:extLst>
          </p:cNvPr>
          <p:cNvSpPr/>
          <p:nvPr userDrawn="1"/>
        </p:nvSpPr>
        <p:spPr>
          <a:xfrm>
            <a:off x="17993876" y="-2309174"/>
            <a:ext cx="1267863" cy="1267862"/>
          </a:xfrm>
          <a:prstGeom prst="rect">
            <a:avLst/>
          </a:prstGeom>
          <a:solidFill>
            <a:srgbClr val="525252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Labels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#525252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D430874-9126-5113-96BC-D32B42662594}"/>
              </a:ext>
            </a:extLst>
          </p:cNvPr>
          <p:cNvSpPr/>
          <p:nvPr userDrawn="1"/>
        </p:nvSpPr>
        <p:spPr>
          <a:xfrm>
            <a:off x="17993875" y="-812143"/>
            <a:ext cx="1267863" cy="1267862"/>
          </a:xfrm>
          <a:prstGeom prst="rect">
            <a:avLst/>
          </a:prstGeom>
          <a:solidFill>
            <a:srgbClr val="262626"/>
          </a:solidFill>
          <a:ln w="12700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Text</a:t>
            </a:r>
          </a:p>
          <a:p>
            <a:pPr algn="ctr"/>
            <a:r>
              <a:rPr lang="en-US" dirty="0">
                <a:solidFill>
                  <a:schemeClr val="bg2"/>
                </a:solidFill>
                <a:latin typeface="IBM Plex Sans" panose="020B0503050203000203" pitchFamily="34" charset="0"/>
              </a:rPr>
              <a:t>#262626</a:t>
            </a:r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6130DE79-A023-C456-CF32-2DC50D6B0974}"/>
              </a:ext>
            </a:extLst>
          </p:cNvPr>
          <p:cNvGrpSpPr/>
          <p:nvPr userDrawn="1"/>
        </p:nvGrpSpPr>
        <p:grpSpPr>
          <a:xfrm>
            <a:off x="11094856" y="6244940"/>
            <a:ext cx="1098532" cy="613059"/>
            <a:chOff x="8965342" y="4231217"/>
            <a:chExt cx="1608171" cy="897474"/>
          </a:xfrm>
        </p:grpSpPr>
        <p:pic>
          <p:nvPicPr>
            <p:cNvPr id="48" name="Graphic 47">
              <a:extLst>
                <a:ext uri="{FF2B5EF4-FFF2-40B4-BE49-F238E27FC236}">
                  <a16:creationId xmlns:a16="http://schemas.microsoft.com/office/drawing/2014/main" id="{01B88B18-377B-36CF-F993-E863B31854E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9321121" y="4418033"/>
              <a:ext cx="897474" cy="355817"/>
            </a:xfrm>
            <a:prstGeom prst="rect">
              <a:avLst/>
            </a:prstGeom>
          </p:spPr>
        </p:pic>
        <p:pic>
          <p:nvPicPr>
            <p:cNvPr id="49" name="Graphic 48" hidden="1">
              <a:extLst>
                <a:ext uri="{FF2B5EF4-FFF2-40B4-BE49-F238E27FC236}">
                  <a16:creationId xmlns:a16="http://schemas.microsoft.com/office/drawing/2014/main" id="{CFF47351-CB22-7CAD-473A-98C4C639A50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9321121" y="4772874"/>
              <a:ext cx="897474" cy="355817"/>
            </a:xfrm>
            <a:prstGeom prst="rect">
              <a:avLst/>
            </a:prstGeom>
          </p:spPr>
        </p:pic>
        <p:pic>
          <p:nvPicPr>
            <p:cNvPr id="50" name="Graphic 49" hidden="1">
              <a:extLst>
                <a:ext uri="{FF2B5EF4-FFF2-40B4-BE49-F238E27FC236}">
                  <a16:creationId xmlns:a16="http://schemas.microsoft.com/office/drawing/2014/main" id="{A65E3C19-C42B-7959-2FF7-C6FA021062F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 rot="16200000">
              <a:off x="9946868" y="4502045"/>
              <a:ext cx="897474" cy="355817"/>
            </a:xfrm>
            <a:prstGeom prst="rect">
              <a:avLst/>
            </a:prstGeom>
          </p:spPr>
        </p:pic>
        <p:pic>
          <p:nvPicPr>
            <p:cNvPr id="51" name="Graphic 50" hidden="1">
              <a:extLst>
                <a:ext uri="{FF2B5EF4-FFF2-40B4-BE49-F238E27FC236}">
                  <a16:creationId xmlns:a16="http://schemas.microsoft.com/office/drawing/2014/main" id="{498D3811-5C5B-F05A-8B20-E775277211B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 rot="16200000">
              <a:off x="8694514" y="4502045"/>
              <a:ext cx="897474" cy="355817"/>
            </a:xfrm>
            <a:prstGeom prst="rect">
              <a:avLst/>
            </a:prstGeom>
          </p:spPr>
        </p:pic>
      </p:grpSp>
      <p:pic>
        <p:nvPicPr>
          <p:cNvPr id="52" name="Graphic 51">
            <a:extLst>
              <a:ext uri="{FF2B5EF4-FFF2-40B4-BE49-F238E27FC236}">
                <a16:creationId xmlns:a16="http://schemas.microsoft.com/office/drawing/2014/main" id="{AB9A97E5-F8F7-97D5-EA55-B454D3B15211}"/>
              </a:ext>
            </a:extLst>
          </p:cNvPr>
          <p:cNvPicPr>
            <a:picLocks noChangeAspect="1"/>
          </p:cNvPicPr>
          <p:nvPr userDrawn="1"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241053" y="6372101"/>
            <a:ext cx="1630680" cy="247650"/>
          </a:xfrm>
          <a:prstGeom prst="rect">
            <a:avLst/>
          </a:prstGeom>
        </p:spPr>
      </p:pic>
      <p:sp>
        <p:nvSpPr>
          <p:cNvPr id="53" name="Rectangle 52" hidden="1">
            <a:extLst>
              <a:ext uri="{FF2B5EF4-FFF2-40B4-BE49-F238E27FC236}">
                <a16:creationId xmlns:a16="http://schemas.microsoft.com/office/drawing/2014/main" id="{9ED457AB-ADA9-4005-1771-D8E96F1CB2CC}"/>
              </a:ext>
            </a:extLst>
          </p:cNvPr>
          <p:cNvSpPr/>
          <p:nvPr userDrawn="1"/>
        </p:nvSpPr>
        <p:spPr>
          <a:xfrm>
            <a:off x="-76201" y="6356350"/>
            <a:ext cx="12353925" cy="276797"/>
          </a:xfrm>
          <a:prstGeom prst="rect">
            <a:avLst/>
          </a:prstGeom>
          <a:noFill/>
          <a:ln w="28575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41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  <p:sldLayoutId id="2147483689" r:id="rId15"/>
    <p:sldLayoutId id="2147483690" r:id="rId16"/>
    <p:sldLayoutId id="2147483691" r:id="rId17"/>
    <p:sldLayoutId id="2147483666" r:id="rId18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customXml" Target="../ink/ink8.xml"/><Relationship Id="rId3" Type="http://schemas.openxmlformats.org/officeDocument/2006/relationships/image" Target="../media/image15.png"/><Relationship Id="rId7" Type="http://schemas.openxmlformats.org/officeDocument/2006/relationships/customXml" Target="../ink/ink3.xml"/><Relationship Id="rId12" Type="http://schemas.openxmlformats.org/officeDocument/2006/relationships/customXml" Target="../ink/ink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6" Type="http://schemas.openxmlformats.org/officeDocument/2006/relationships/customXml" Target="../ink/ink2.xml"/><Relationship Id="rId11" Type="http://schemas.openxmlformats.org/officeDocument/2006/relationships/customXml" Target="../ink/ink6.xml"/><Relationship Id="rId5" Type="http://schemas.openxmlformats.org/officeDocument/2006/relationships/image" Target="../media/image100.png"/><Relationship Id="rId10" Type="http://schemas.openxmlformats.org/officeDocument/2006/relationships/customXml" Target="../ink/ink5.xml"/><Relationship Id="rId4" Type="http://schemas.openxmlformats.org/officeDocument/2006/relationships/customXml" Target="../ink/ink1.xml"/><Relationship Id="rId9" Type="http://schemas.openxmlformats.org/officeDocument/2006/relationships/image" Target="../media/image11.png"/><Relationship Id="rId14" Type="http://schemas.openxmlformats.org/officeDocument/2006/relationships/customXml" Target="../ink/ink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Relationship Id="rId4" Type="http://schemas.openxmlformats.org/officeDocument/2006/relationships/image" Target="../media/image3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D5631-0297-E86E-7069-C969B141FD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0"/>
            <a:ext cx="7184719" cy="3556001"/>
          </a:xfrm>
          <a:noFill/>
        </p:spPr>
        <p:txBody>
          <a:bodyPr/>
          <a:lstStyle/>
          <a:p>
            <a:r>
              <a:rPr lang="en-US" dirty="0">
                <a:solidFill>
                  <a:srgbClr val="00B0F0"/>
                </a:solidFill>
              </a:rPr>
              <a:t>The Analysis of Current and Future Trends in Technical Skills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DF6B8D-2BAC-11F8-7D28-B631D08C8D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10027" y="3731247"/>
            <a:ext cx="9135454" cy="1655762"/>
          </a:xfrm>
          <a:noFill/>
        </p:spPr>
        <p:txBody>
          <a:bodyPr/>
          <a:lstStyle/>
          <a:p>
            <a:r>
              <a:rPr lang="en-US" dirty="0">
                <a:solidFill>
                  <a:srgbClr val="00B0F0"/>
                </a:solidFill>
              </a:rPr>
              <a:t>Richard Lam </a:t>
            </a:r>
          </a:p>
          <a:p>
            <a:r>
              <a:rPr lang="en-US" dirty="0">
                <a:solidFill>
                  <a:srgbClr val="00B0F0"/>
                </a:solidFill>
              </a:rPr>
              <a:t>5/24/2025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323E2C-8982-861D-BE1D-3E30E5CC43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4718" y="0"/>
            <a:ext cx="5007282" cy="3671888"/>
          </a:xfrm>
          <a:prstGeom prst="rect">
            <a:avLst/>
          </a:prstGeom>
          <a:noFill/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0097309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613BC838-B25A-D37F-BC71-DD61789570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711" y="2025672"/>
            <a:ext cx="3194581" cy="319458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EEC79264-7E04-A135-9158-F7EF333AC3D8}"/>
              </a:ext>
            </a:extLst>
          </p:cNvPr>
          <p:cNvSpPr txBox="1">
            <a:spLocks/>
          </p:cNvSpPr>
          <p:nvPr/>
        </p:nvSpPr>
        <p:spPr>
          <a:xfrm>
            <a:off x="782054" y="263810"/>
            <a:ext cx="850852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>
                <a:solidFill>
                  <a:srgbClr val="525252"/>
                </a:solidFill>
                <a:latin typeface="IBM Plex Sans SemiBold" panose="020B0503050203000203" pitchFamily="34" charset="0"/>
                <a:ea typeface="IBM Plex Sans SemiBold" panose="020B0503050203000203" pitchFamily="34" charset="0"/>
                <a:cs typeface="IBM Plex Sans SemiBold" panose="020B0503050203000203" pitchFamily="34" charset="0"/>
              </a:defRPr>
            </a:lvl1pPr>
          </a:lstStyle>
          <a:p>
            <a:r>
              <a:rPr lang="en-US" dirty="0">
                <a:solidFill>
                  <a:srgbClr val="00B0F0"/>
                </a:solidFill>
              </a:rPr>
              <a:t>OUTLINE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79639434-C7DB-C6DD-28C9-5FE3588C5BC8}"/>
              </a:ext>
            </a:extLst>
          </p:cNvPr>
          <p:cNvSpPr txBox="1">
            <a:spLocks/>
          </p:cNvSpPr>
          <p:nvPr/>
        </p:nvSpPr>
        <p:spPr>
          <a:xfrm>
            <a:off x="6172199" y="2423365"/>
            <a:ext cx="5263951" cy="3825718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00B0F0"/>
                </a:solidFill>
              </a:rPr>
              <a:t>Executive Summary</a:t>
            </a:r>
          </a:p>
          <a:p>
            <a:r>
              <a:rPr lang="en-US" sz="2200" dirty="0">
                <a:solidFill>
                  <a:srgbClr val="00B0F0"/>
                </a:solidFill>
              </a:rPr>
              <a:t>Introduction</a:t>
            </a:r>
          </a:p>
          <a:p>
            <a:r>
              <a:rPr lang="en-US" sz="2200" dirty="0">
                <a:solidFill>
                  <a:srgbClr val="00B0F0"/>
                </a:solidFill>
              </a:rPr>
              <a:t>Methodology</a:t>
            </a:r>
          </a:p>
          <a:p>
            <a:r>
              <a:rPr lang="en-US" sz="2200" dirty="0">
                <a:solidFill>
                  <a:srgbClr val="00B0F0"/>
                </a:solidFill>
              </a:rPr>
              <a:t>Results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Visualization – Charts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Dashboard</a:t>
            </a:r>
          </a:p>
          <a:p>
            <a:r>
              <a:rPr lang="en-US" sz="2200" dirty="0">
                <a:solidFill>
                  <a:srgbClr val="00B0F0"/>
                </a:solidFill>
              </a:rPr>
              <a:t>Discussion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Findings &amp; Implications</a:t>
            </a:r>
          </a:p>
          <a:p>
            <a:r>
              <a:rPr lang="en-US" sz="2200" dirty="0">
                <a:solidFill>
                  <a:srgbClr val="00B0F0"/>
                </a:solidFill>
              </a:rPr>
              <a:t>Conclusion</a:t>
            </a:r>
          </a:p>
          <a:p>
            <a:r>
              <a:rPr lang="en-US" sz="2200" dirty="0">
                <a:solidFill>
                  <a:srgbClr val="00B0F0"/>
                </a:solidFill>
              </a:rPr>
              <a:t>Appendix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14:cNvPr>
              <p14:cNvContentPartPr/>
              <p14:nvPr/>
            </p14:nvContentPartPr>
            <p14:xfrm>
              <a:off x="1889280" y="999312"/>
              <a:ext cx="360" cy="36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7992DA0-58E4-05C4-71CF-DD740B9964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99280" y="81931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14:cNvPr>
              <p14:cNvContentPartPr/>
              <p14:nvPr/>
            </p14:nvContentPartPr>
            <p14:xfrm>
              <a:off x="2328120" y="962952"/>
              <a:ext cx="360" cy="3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482A2257-403C-392A-475C-257A25E9580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38120" y="782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60" cy="3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D029E5DF-95C3-9324-3430-6C07411D941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38160" y="74623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14:cNvPr>
              <p14:cNvContentPartPr/>
              <p14:nvPr/>
            </p14:nvContentPartPr>
            <p14:xfrm>
              <a:off x="2828160" y="926232"/>
              <a:ext cx="3240" cy="5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51E65F16-DA3B-6993-F729-45193F9CF12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738160" y="758232"/>
                <a:ext cx="182880" cy="34070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A4954AB-7AA6-D07E-B72B-071B959556E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C9430D9-2989-125F-94DC-1DA2D66BDD5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009380E8-5542-6CEB-DEF5-1F0E98FBDFC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14:cNvPr>
              <p14:cNvContentPartPr/>
              <p14:nvPr/>
            </p14:nvContentPartPr>
            <p14:xfrm>
              <a:off x="7266240" y="2888952"/>
              <a:ext cx="360" cy="3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73A9B50E-8658-465E-AEAA-D97CD87BB40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76240" y="2708952"/>
                <a:ext cx="180000" cy="36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14:cNvPr>
              <p14:cNvContentPartPr/>
              <p14:nvPr/>
            </p14:nvContentPartPr>
            <p14:xfrm>
              <a:off x="6680880" y="2877072"/>
              <a:ext cx="3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329C95BA-F81E-F99B-4BF2-F62AECFA21A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90880" y="2697072"/>
                <a:ext cx="180000" cy="360000"/>
              </a:xfrm>
              <a:prstGeom prst="rect">
                <a:avLst/>
              </a:prstGeom>
            </p:spPr>
          </p:pic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45324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48DC5-8A48-2A34-31B9-FC8CB168C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926" y="304965"/>
            <a:ext cx="8565109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EXECUTIVE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44109-938A-7A63-C3A8-FDDB5C799EA5}"/>
              </a:ext>
            </a:extLst>
          </p:cNvPr>
          <p:cNvSpPr txBox="1">
            <a:spLocks/>
          </p:cNvSpPr>
          <p:nvPr/>
        </p:nvSpPr>
        <p:spPr>
          <a:xfrm>
            <a:off x="4285075" y="2419265"/>
            <a:ext cx="7171578" cy="38175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00B0F0"/>
                </a:solidFill>
              </a:rPr>
              <a:t>Current and future demographic studies in computer programming </a:t>
            </a:r>
            <a:r>
              <a:rPr lang="en-US" sz="2200" dirty="0" err="1">
                <a:solidFill>
                  <a:srgbClr val="00B0F0"/>
                </a:solidFill>
              </a:rPr>
              <a:t>languages,platforms</a:t>
            </a:r>
            <a:r>
              <a:rPr lang="en-US" sz="2200" dirty="0">
                <a:solidFill>
                  <a:srgbClr val="00B0F0"/>
                </a:solidFill>
              </a:rPr>
              <a:t>, </a:t>
            </a:r>
            <a:r>
              <a:rPr lang="en-US" sz="2200" dirty="0" err="1">
                <a:solidFill>
                  <a:srgbClr val="00B0F0"/>
                </a:solidFill>
              </a:rPr>
              <a:t>webframes</a:t>
            </a:r>
            <a:r>
              <a:rPr lang="en-US" sz="2200" dirty="0">
                <a:solidFill>
                  <a:srgbClr val="00B0F0"/>
                </a:solidFill>
              </a:rPr>
              <a:t> and databases</a:t>
            </a:r>
          </a:p>
          <a:p>
            <a:r>
              <a:rPr lang="en-US" sz="2200" dirty="0">
                <a:solidFill>
                  <a:srgbClr val="00B0F0"/>
                </a:solidFill>
              </a:rPr>
              <a:t>Level of education, age, country and gender gap in technological companies</a:t>
            </a:r>
          </a:p>
          <a:p>
            <a:r>
              <a:rPr lang="en-US" sz="2200" dirty="0">
                <a:solidFill>
                  <a:srgbClr val="00B0F0"/>
                </a:solidFill>
              </a:rPr>
              <a:t>Population in the survey</a:t>
            </a:r>
          </a:p>
          <a:p>
            <a:r>
              <a:rPr lang="en-US" sz="2200" dirty="0">
                <a:solidFill>
                  <a:srgbClr val="00B0F0"/>
                </a:solidFill>
              </a:rPr>
              <a:t>Data Wrangling, Analysis and Visualization based on the technical skills and careers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6795A9-FE70-B337-8B17-B79ACA60A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0494" y="2302762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5538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676FB0-8465-86A8-332A-32CC35A5D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7DC8D-244C-F7EC-5F66-ACB99A7D6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0021" y="365125"/>
            <a:ext cx="7647865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INTRODUCTION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C879F-E713-B75A-D2DE-0953EB0EA4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347" y="2262036"/>
            <a:ext cx="3054361" cy="3054361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D35578F-30C9-4905-FD4E-7366FEFAEA7F}"/>
              </a:ext>
            </a:extLst>
          </p:cNvPr>
          <p:cNvSpPr txBox="1">
            <a:spLocks/>
          </p:cNvSpPr>
          <p:nvPr/>
        </p:nvSpPr>
        <p:spPr>
          <a:xfrm>
            <a:off x="4285075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00B0F0"/>
                </a:solidFill>
              </a:rPr>
              <a:t>This data report is about top trends of computer programming languages, databases, platforms and web frames. </a:t>
            </a:r>
          </a:p>
          <a:p>
            <a:r>
              <a:rPr lang="en-US" sz="2200" dirty="0">
                <a:solidFill>
                  <a:srgbClr val="00B0F0"/>
                </a:solidFill>
              </a:rPr>
              <a:t>The purpose of this data presentation is to analyze the technical skills in demography. </a:t>
            </a:r>
          </a:p>
          <a:p>
            <a:r>
              <a:rPr lang="en-US" sz="2200" dirty="0">
                <a:solidFill>
                  <a:srgbClr val="00B0F0"/>
                </a:solidFill>
              </a:rPr>
              <a:t>The main point is that many respondents have or want the technical skills and careers in the demographic data. </a:t>
            </a:r>
          </a:p>
          <a:p>
            <a:r>
              <a:rPr lang="en-US" sz="2200" dirty="0">
                <a:solidFill>
                  <a:srgbClr val="00B0F0"/>
                </a:solidFill>
              </a:rPr>
              <a:t>Audiences and viewers include college professors and students from computer science department and information technology employees and supervisors.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40863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1DCFD-8450-17AD-05D4-229BA1C66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B7E7-7534-10CB-A359-88015C285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2053" y="376642"/>
            <a:ext cx="7230723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8C842-232A-AE37-3471-90353781809D}"/>
              </a:ext>
            </a:extLst>
          </p:cNvPr>
          <p:cNvSpPr txBox="1">
            <a:spLocks/>
          </p:cNvSpPr>
          <p:nvPr/>
        </p:nvSpPr>
        <p:spPr>
          <a:xfrm>
            <a:off x="4276874" y="2513575"/>
            <a:ext cx="7068725" cy="375359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>
                <a:solidFill>
                  <a:srgbClr val="00B0F0"/>
                </a:solidFill>
              </a:rPr>
              <a:t>Data Collection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Web scraping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APIs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Request library </a:t>
            </a:r>
          </a:p>
          <a:p>
            <a:r>
              <a:rPr lang="en-US" sz="2200" dirty="0">
                <a:solidFill>
                  <a:srgbClr val="00B0F0"/>
                </a:solidFill>
              </a:rPr>
              <a:t>Data Wrangling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Removing duplicate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Removing or replacing the missing values  </a:t>
            </a:r>
            <a:endParaRPr lang="en-US" sz="600" dirty="0">
              <a:solidFill>
                <a:srgbClr val="00B0F0"/>
              </a:solidFill>
            </a:endParaRPr>
          </a:p>
          <a:p>
            <a:r>
              <a:rPr lang="en-US" sz="2200" dirty="0">
                <a:solidFill>
                  <a:srgbClr val="00B0F0"/>
                </a:solidFill>
              </a:rPr>
              <a:t>Exploratory Data Analysis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Handling outliners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Correlation</a:t>
            </a:r>
          </a:p>
          <a:p>
            <a:r>
              <a:rPr lang="en-US" sz="2200" dirty="0">
                <a:solidFill>
                  <a:srgbClr val="00B0F0"/>
                </a:solidFill>
              </a:rPr>
              <a:t>Data Visualization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Comparison and Composition of demographic data</a:t>
            </a:r>
          </a:p>
          <a:p>
            <a:pPr lvl="1"/>
            <a:r>
              <a:rPr lang="en-US" sz="1800" dirty="0">
                <a:solidFill>
                  <a:srgbClr val="00B0F0"/>
                </a:solidFill>
              </a:rPr>
              <a:t>Data relationships  </a:t>
            </a:r>
          </a:p>
          <a:p>
            <a:r>
              <a:rPr lang="en-US" sz="2200" dirty="0">
                <a:solidFill>
                  <a:srgbClr val="00B0F0"/>
                </a:solidFill>
              </a:rPr>
              <a:t>Dashboard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0CF71F-8A03-DAC7-4BC2-F05644ECB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655" y="1831709"/>
            <a:ext cx="3194581" cy="319458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7916925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F900-F166-BEB7-F740-8C872536DC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5210DC-B757-47AF-44F4-D6EC9F4BF9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1D05E-A3D3-356F-EB51-94E7A1AE2A61}"/>
              </a:ext>
            </a:extLst>
          </p:cNvPr>
          <p:cNvSpPr txBox="1">
            <a:spLocks/>
          </p:cNvSpPr>
          <p:nvPr/>
        </p:nvSpPr>
        <p:spPr>
          <a:xfrm>
            <a:off x="1043114" y="1825625"/>
            <a:ext cx="70687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sz="1800"/>
          </a:p>
          <a:p>
            <a:pPr marL="0" indent="0">
              <a:buFont typeface="Arial"/>
              <a:buNone/>
            </a:pPr>
            <a:endParaRPr lang="en-US" sz="1800"/>
          </a:p>
          <a:p>
            <a:pPr marL="0" indent="0">
              <a:buFont typeface="Arial"/>
              <a:buNone/>
            </a:pPr>
            <a:endParaRPr lang="en-US" sz="1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FD5740-0355-8A91-2E62-D003B24862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985" y="2421071"/>
            <a:ext cx="10661166" cy="381571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15908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27A2E-C667-F6D3-A1E3-47F70603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5539A591-4DF0-3912-FF72-3FD0BD7B9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B0F0"/>
                </a:solidFill>
              </a:rPr>
              <a:t>PROGRAMMING LANGUAGE TRENDS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4B8C8AD-F58A-1F17-9CA2-E737E19499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Current Year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9FB3B79-D3E9-99FC-ECF2-28CCBF6475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Next Year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DFAC5CF-1B58-ABB4-D63B-1D931D572459}"/>
              </a:ext>
            </a:extLst>
          </p:cNvPr>
          <p:cNvSpPr txBox="1">
            <a:spLocks/>
          </p:cNvSpPr>
          <p:nvPr/>
        </p:nvSpPr>
        <p:spPr>
          <a:xfrm>
            <a:off x="838199" y="2506661"/>
            <a:ext cx="4614949" cy="36703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70C0"/>
                </a:solidFill>
                <a:latin typeface="IBM Plex Mono Text" panose="020B0509050203000203" pitchFamily="49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2200" dirty="0">
              <a:solidFill>
                <a:schemeClr val="tx1"/>
              </a:solidFill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E312020-C568-972D-DC74-3A677D7B3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103" y="2506661"/>
            <a:ext cx="3379763" cy="246528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AC93667-FC7D-E547-68F4-BAFCC7B12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506661"/>
            <a:ext cx="3379763" cy="2474697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684467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7BF14-48B4-018D-63EE-DF24A5A8C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444DA4-C4B2-2A92-8A96-C527D8D02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>
                <a:solidFill>
                  <a:srgbClr val="00B0F0"/>
                </a:solidFill>
              </a:rPr>
              <a:t>PROGRAMMING LANGUAGE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85DDBB-31B7-4F81-1E76-90009348F1D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Findings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rgbClr val="00B0F0"/>
                </a:solidFill>
              </a:rPr>
              <a:t>The amount of C # will increase. </a:t>
            </a:r>
          </a:p>
          <a:p>
            <a:r>
              <a:rPr lang="en-US" dirty="0">
                <a:solidFill>
                  <a:srgbClr val="00B0F0"/>
                </a:solidFill>
              </a:rPr>
              <a:t>There is the interest in Python.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166E7F-5223-7C98-EBC0-E8FA35940F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Implications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solidFill>
                  <a:srgbClr val="00B0F0"/>
                </a:solidFill>
              </a:rPr>
              <a:t>Python will establish in the market.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012887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A0F35-C02C-0C12-3664-049CAC5AF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B430B-2D6C-26E3-5D00-4D061A250E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584" y="428768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rgbClr val="00B0F0"/>
                </a:solidFill>
              </a:rPr>
              <a:t>DATABASE TRENDS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B3FA5-2985-EAFB-8885-6820D4058A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22286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Current Year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E0AA0B-A66B-F896-65D9-69DDA700D8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1758142" cy="501939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Next Year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06193E2-DB24-EB7B-11A4-B25368E2C6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584" y="2444342"/>
            <a:ext cx="3372142" cy="250719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049F76F-D088-A888-2068-A6A66BD8FF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444342"/>
            <a:ext cx="3372142" cy="251100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5028874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A6A9C-70D0-119E-38BE-1738DA5AD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97E2B-01DB-9C21-4CF2-1586AB1C3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985" y="365125"/>
            <a:ext cx="12094029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B0F0"/>
                </a:solidFill>
              </a:rPr>
              <a:t>DATABASE TRENDS -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EC42F-75A2-FA08-F2B6-EB2817BBF8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Findings</a:t>
            </a: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r>
              <a:rPr lang="en-US" dirty="0" err="1">
                <a:solidFill>
                  <a:srgbClr val="00B0F0"/>
                </a:solidFill>
              </a:rPr>
              <a:t>Postgre</a:t>
            </a:r>
            <a:r>
              <a:rPr lang="en-US" dirty="0">
                <a:solidFill>
                  <a:srgbClr val="00B0F0"/>
                </a:solidFill>
              </a:rPr>
              <a:t> SQL is the most popular database in the technology. </a:t>
            </a:r>
          </a:p>
          <a:p>
            <a:r>
              <a:rPr lang="en-US" dirty="0">
                <a:solidFill>
                  <a:srgbClr val="00B0F0"/>
                </a:solidFill>
              </a:rPr>
              <a:t>The amount of programmers and developers who works MySQL will decrease in future. </a:t>
            </a:r>
          </a:p>
          <a:p>
            <a:r>
              <a:rPr lang="en-US" dirty="0">
                <a:solidFill>
                  <a:srgbClr val="00B0F0"/>
                </a:solidFill>
              </a:rPr>
              <a:t>The amount of Microsoft SQL Server will decrease in future, but the amount of MongoDB will increase in future.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27B10A-E9C3-5B71-0345-782E28BDB3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Implications</a:t>
            </a: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r>
              <a:rPr lang="en-US" dirty="0">
                <a:solidFill>
                  <a:srgbClr val="00B0F0"/>
                </a:solidFill>
              </a:rPr>
              <a:t>SQLite will establish in the market. </a:t>
            </a:r>
          </a:p>
          <a:p>
            <a:endParaRPr lang="en-US" dirty="0">
              <a:solidFill>
                <a:srgbClr val="00B0F0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1881259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8291F-E27C-74F8-33D3-FF131FC96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7D73-872E-CFE8-1C38-8422F3838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C64183-B387-01E7-21BA-4DA6B1F51815}"/>
              </a:ext>
            </a:extLst>
          </p:cNvPr>
          <p:cNvSpPr txBox="1">
            <a:spLocks/>
          </p:cNvSpPr>
          <p:nvPr/>
        </p:nvSpPr>
        <p:spPr>
          <a:xfrm>
            <a:off x="4285075" y="3142210"/>
            <a:ext cx="7068725" cy="25692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200" dirty="0">
                <a:solidFill>
                  <a:srgbClr val="00B0F0"/>
                </a:solidFill>
              </a:rPr>
              <a:t>https://</a:t>
            </a:r>
            <a:r>
              <a:rPr lang="en-US" sz="2200" dirty="0" err="1">
                <a:solidFill>
                  <a:srgbClr val="00B0F0"/>
                </a:solidFill>
              </a:rPr>
              <a:t>github.com</a:t>
            </a:r>
            <a:r>
              <a:rPr lang="en-US" sz="2200">
                <a:solidFill>
                  <a:srgbClr val="00B0F0"/>
                </a:solidFill>
              </a:rPr>
              <a:t>/richardlam4391/IBM-Data-Analyst-Professional-Certificate/blob/main/IBM%20Data%20Analyst%20Capstone%20Project/Exercise%20and%20Project/IBM%20Data%20Analyst%20Capstone%20Project%20Dashboard%20Part%20A.pdf</a:t>
            </a:r>
            <a:endParaRPr lang="en-US" sz="2200" dirty="0">
              <a:solidFill>
                <a:srgbClr val="00B0F0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79822F7-4A79-5E92-9C6D-8A976918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475" y="1901819"/>
            <a:ext cx="3054361" cy="3054361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752198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F0CA-55D1-0835-20D4-03D017A1D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93914-A678-A34E-C52A-16D0ADAA2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DASHBOARD TAB 1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298BD3B-1A15-F694-FFC6-5D3E9ED2E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815" y="2435140"/>
            <a:ext cx="10684299" cy="3815976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297367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18F23D-B8D7-D0E4-EDC5-E0F023884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F933A-3681-3D82-68EF-62EC07822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DASHBOARD TAB 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9744668-0CF6-44AF-7D53-223E1305EE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035" y="2410690"/>
            <a:ext cx="10684299" cy="3853193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0484966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A10D3-267F-7A90-5160-775BFEBCA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0C82-5F1A-F7B1-2C56-5C08240C1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DASHBOARD TAB 3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0C4A651-43BC-FE9E-CA64-961EF59B58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3256" y="2440029"/>
            <a:ext cx="10694079" cy="382874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405636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762C0A-56EF-B349-A097-27B4D460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98769-531F-C6A5-406F-D1C3D2805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DISCUSSION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1F45ECC1-C956-CADF-DDFD-F54C6608E40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2130419" y="2688426"/>
            <a:ext cx="3054361" cy="3054361"/>
          </a:xfrm>
          <a:prstGeom prst="rect">
            <a:avLst/>
          </a:prstGeom>
          <a:noFill/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67EF50-003F-6BB0-4367-42BB884C77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2427464"/>
            <a:ext cx="5251649" cy="3825719"/>
          </a:xfrm>
        </p:spPr>
        <p:txBody>
          <a:bodyPr/>
          <a:lstStyle/>
          <a:p>
            <a:r>
              <a:rPr lang="en-US" dirty="0">
                <a:solidFill>
                  <a:srgbClr val="00B0F0"/>
                </a:solidFill>
              </a:rPr>
              <a:t>There are technology trends in current and future times. </a:t>
            </a:r>
          </a:p>
          <a:p>
            <a:r>
              <a:rPr lang="en-US" dirty="0">
                <a:solidFill>
                  <a:srgbClr val="00B0F0"/>
                </a:solidFill>
              </a:rPr>
              <a:t>There are developers and programmers with age and education gap in the technical society.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573335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5330-0589-A550-601A-037CA416F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A8902-AF46-DDE8-D792-7940E18AF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B0F0"/>
                </a:solidFill>
              </a:rPr>
              <a:t>OVERALL FINDINGS &amp; IMPLICATIONS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6B89C-35B9-C514-4E9C-FCBE8D68D3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13816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Findings</a:t>
            </a: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r>
              <a:rPr lang="en-US" dirty="0">
                <a:solidFill>
                  <a:srgbClr val="00B0F0"/>
                </a:solidFill>
              </a:rPr>
              <a:t>There are 42% of developers and programmers with 25 – 34 years old.</a:t>
            </a:r>
          </a:p>
          <a:p>
            <a:r>
              <a:rPr lang="en-US" dirty="0">
                <a:solidFill>
                  <a:srgbClr val="00B0F0"/>
                </a:solidFill>
              </a:rPr>
              <a:t>There are gender, age and education gaps in the technical society. </a:t>
            </a:r>
          </a:p>
          <a:p>
            <a:r>
              <a:rPr lang="en-US" dirty="0">
                <a:solidFill>
                  <a:srgbClr val="00B0F0"/>
                </a:solidFill>
              </a:rPr>
              <a:t>There is the concentration in the country like the United States.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DBBA5A-826D-FFFD-F1BE-92269842D3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00B0F0"/>
                </a:solidFill>
              </a:rPr>
              <a:t>Implications</a:t>
            </a:r>
          </a:p>
          <a:p>
            <a:pPr marL="0" indent="0">
              <a:buNone/>
            </a:pPr>
            <a:endParaRPr lang="en-US" dirty="0">
              <a:solidFill>
                <a:srgbClr val="00B0F0"/>
              </a:solidFill>
            </a:endParaRPr>
          </a:p>
          <a:p>
            <a:r>
              <a:rPr lang="en-US" dirty="0">
                <a:solidFill>
                  <a:srgbClr val="00B0F0"/>
                </a:solidFill>
              </a:rPr>
              <a:t>There are the younger developers without the postgraduate degree. </a:t>
            </a:r>
          </a:p>
          <a:p>
            <a:r>
              <a:rPr lang="en-US" dirty="0">
                <a:solidFill>
                  <a:srgbClr val="00B0F0"/>
                </a:solidFill>
              </a:rPr>
              <a:t>The developers and Programmers should understand the current and future technology trends.</a:t>
            </a:r>
          </a:p>
          <a:p>
            <a:r>
              <a:rPr lang="en-US" dirty="0">
                <a:solidFill>
                  <a:srgbClr val="00B0F0"/>
                </a:solidFill>
              </a:rPr>
              <a:t>The companies should spread technology out to one of the countries. 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865637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23A16F-6AB5-5C0B-5466-65B2A6AE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>
            <a:extLst>
              <a:ext uri="{FF2B5EF4-FFF2-40B4-BE49-F238E27FC236}">
                <a16:creationId xmlns:a16="http://schemas.microsoft.com/office/drawing/2014/main" id="{5E978FF3-BC93-079A-1687-DD4786B81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CONCLUSION</a:t>
            </a:r>
          </a:p>
        </p:txBody>
      </p:sp>
      <p:pic>
        <p:nvPicPr>
          <p:cNvPr id="13" name="Content Placeholder 5">
            <a:extLst>
              <a:ext uri="{FF2B5EF4-FFF2-40B4-BE49-F238E27FC236}">
                <a16:creationId xmlns:a16="http://schemas.microsoft.com/office/drawing/2014/main" id="{CD985AE9-0D12-3398-B9B7-4395CABF170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125967" y="2113896"/>
            <a:ext cx="3054361" cy="3054361"/>
          </a:xfrm>
          <a:prstGeom prst="rect">
            <a:avLst/>
          </a:prstGeom>
        </p:spPr>
      </p:pic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2E75918E-509D-16F8-F478-FA41759FEFE9}"/>
              </a:ext>
            </a:extLst>
          </p:cNvPr>
          <p:cNvSpPr txBox="1">
            <a:spLocks/>
          </p:cNvSpPr>
          <p:nvPr/>
        </p:nvSpPr>
        <p:spPr>
          <a:xfrm>
            <a:off x="4544291" y="2406963"/>
            <a:ext cx="6912362" cy="383802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262626"/>
                </a:solidFill>
                <a:latin typeface="IBM Plex Sans" panose="020B050305020300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525252"/>
                </a:solidFill>
                <a:latin typeface="IBM Plex Sans" panose="020B050305020300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00B0F0"/>
                </a:solidFill>
              </a:rPr>
              <a:t>There are recent and new technology trends</a:t>
            </a:r>
          </a:p>
          <a:p>
            <a:r>
              <a:rPr lang="en-US" dirty="0">
                <a:solidFill>
                  <a:srgbClr val="00B0F0"/>
                </a:solidFill>
              </a:rPr>
              <a:t>There are programmers and developers with age and education. </a:t>
            </a:r>
          </a:p>
          <a:p>
            <a:r>
              <a:rPr lang="en-US" dirty="0">
                <a:solidFill>
                  <a:srgbClr val="00B0F0"/>
                </a:solidFill>
              </a:rPr>
              <a:t>The demographic studies depend on salaries. </a:t>
            </a:r>
          </a:p>
          <a:p>
            <a:r>
              <a:rPr lang="en-US" dirty="0">
                <a:solidFill>
                  <a:srgbClr val="00B0F0"/>
                </a:solidFill>
              </a:rPr>
              <a:t>The programmers and developers focus on databases, computer programming languages, web frames and platforms in current and future trends. 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8403782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598F-DBE3-7B78-D1F9-0BA7F7DC7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34A3B939-6057-23B6-25B3-E33A2D205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APPENDIX</a:t>
            </a:r>
          </a:p>
        </p:txBody>
      </p:sp>
      <p:pic>
        <p:nvPicPr>
          <p:cNvPr id="11" name="Content Placeholder 3">
            <a:extLst>
              <a:ext uri="{FF2B5EF4-FFF2-40B4-BE49-F238E27FC236}">
                <a16:creationId xmlns:a16="http://schemas.microsoft.com/office/drawing/2014/main" id="{E8E550E5-7A15-A106-D083-8C1433A790A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/>
          <a:stretch>
            <a:fillRect/>
          </a:stretch>
        </p:blipFill>
        <p:spPr>
          <a:xfrm>
            <a:off x="1055857" y="1849823"/>
            <a:ext cx="3194581" cy="319458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B23A56A7-1A60-7FD3-99DA-90C648791C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2398" y="2053733"/>
            <a:ext cx="7080487" cy="4072752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8601586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C4E31-32FC-4A23-CEF9-98F0BB9F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334EF5D-2E2A-7FE5-06C6-01ACAB1F42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248" y="383051"/>
            <a:ext cx="5929053" cy="1325563"/>
          </a:xfrm>
        </p:spPr>
        <p:txBody>
          <a:bodyPr anchor="ctr">
            <a:normAutofit/>
          </a:bodyPr>
          <a:lstStyle/>
          <a:p>
            <a:r>
              <a:rPr lang="en-US" dirty="0">
                <a:solidFill>
                  <a:srgbClr val="00B0F0"/>
                </a:solidFill>
              </a:rPr>
              <a:t> JOB POSTINGS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ECED6D-DB0D-21DE-49D2-FF9A5D43F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165" y="1378935"/>
            <a:ext cx="10644499" cy="485560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353738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DB558-7141-B0CE-D399-712C1073BF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12CF5900-71B3-70B0-7CF1-4A1C535AD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8248" y="383051"/>
            <a:ext cx="5929053" cy="1325563"/>
          </a:xfrm>
        </p:spPr>
        <p:txBody>
          <a:bodyPr anchor="ctr">
            <a:normAutofit fontScale="90000"/>
          </a:bodyPr>
          <a:lstStyle/>
          <a:p>
            <a:r>
              <a:rPr lang="en-US" dirty="0">
                <a:solidFill>
                  <a:srgbClr val="00B0F0"/>
                </a:solidFill>
              </a:rPr>
              <a:t>POPULAR LANGUAGES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767ACD-99F5-B4B6-22AB-507636B1A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7925" y="1310477"/>
            <a:ext cx="10669630" cy="490450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945902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COUNT" val="18"/>
  <p:tag name="ARTICULATE_DESIGN_ID_SLIDE_TEMPLATE_SKILL_NETWORK" val="762xjmeN"/>
  <p:tag name="ARTICULATE_DESIGN_ID_IBM DEVELOPER 2018 WHITE BACKGROUND" val="AcyDFp8V"/>
  <p:tag name="ARTICULATE_SLIDE_THUMBNAIL_REFRESH" val="1"/>
  <p:tag name="ARTICULATE_PROJECT_OPEN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55be751-a274-42e8-93fb-f39d3b9bccc8">
      <Terms xmlns="http://schemas.microsoft.com/office/infopath/2007/PartnerControls"/>
    </lcf76f155ced4ddcb4097134ff3c332f>
    <TaxCatchAll xmlns="f80a141d-92ca-4d3d-9308-f7e7b1d44ce8" xsi:nil="true"/>
    <AWBlink xmlns="155be751-a274-42e8-93fb-f39d3b9bccc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ECD86F56755A646AC8AFCBCBD967F21" ma:contentTypeVersion="19" ma:contentTypeDescription="Create a new document." ma:contentTypeScope="" ma:versionID="d7279d4efbac013e02c1e816bc7f7c13">
  <xsd:schema xmlns:xsd="http://www.w3.org/2001/XMLSchema" xmlns:xs="http://www.w3.org/2001/XMLSchema" xmlns:p="http://schemas.microsoft.com/office/2006/metadata/properties" xmlns:ns2="155be751-a274-42e8-93fb-f39d3b9bccc8" xmlns:ns3="f80a141d-92ca-4d3d-9308-f7e7b1d44ce8" targetNamespace="http://schemas.microsoft.com/office/2006/metadata/properties" ma:root="true" ma:fieldsID="0a3fd1dbe83fc08387abb87098562ef0" ns2:_="" ns3:_="">
    <xsd:import namespace="155be751-a274-42e8-93fb-f39d3b9bccc8"/>
    <xsd:import namespace="f80a141d-92ca-4d3d-9308-f7e7b1d44ce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AWBlink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5be751-a274-42e8-93fb-f39d3b9bcc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bfc8dc1-ab14-4a6b-8a4a-9f7f0b948a9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AWBlink" ma:index="25" nillable="true" ma:displayName="AWB link" ma:description="Author Workbench link" ma:format="Dropdown" ma:internalName="AWBlink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80a141d-92ca-4d3d-9308-f7e7b1d44ce8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2edd55d-11a0-43df-8094-42adcb6055ca}" ma:internalName="TaxCatchAll" ma:showField="CatchAllData" ma:web="f80a141d-92ca-4d3d-9308-f7e7b1d44ce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EFDA260-DDA0-422C-B7AE-778F653FBB3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4DA07C5-A406-4A0D-B3E6-3856C94AC7F3}">
  <ds:schemaRefs>
    <ds:schemaRef ds:uri="http://purl.org/dc/dcmitype/"/>
    <ds:schemaRef ds:uri="http://purl.org/dc/elements/1.1/"/>
    <ds:schemaRef ds:uri="http://purl.org/dc/terms/"/>
    <ds:schemaRef ds:uri="155be751-a274-42e8-93fb-f39d3b9bccc8"/>
    <ds:schemaRef ds:uri="http://schemas.microsoft.com/office/2006/documentManagement/types"/>
    <ds:schemaRef ds:uri="f80a141d-92ca-4d3d-9308-f7e7b1d44ce8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EAB06F8-DBB4-44C7-AF84-8B098C8B039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55be751-a274-42e8-93fb-f39d3b9bccc8"/>
    <ds:schemaRef ds:uri="f80a141d-92ca-4d3d-9308-f7e7b1d44ce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1130</TotalTime>
  <Words>508</Words>
  <Application>Microsoft Macintosh PowerPoint</Application>
  <PresentationFormat>Widescreen</PresentationFormat>
  <Paragraphs>91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Garamond</vt:lpstr>
      <vt:lpstr>IBM Plex Mono</vt:lpstr>
      <vt:lpstr>IBM Plex Sans</vt:lpstr>
      <vt:lpstr>Organic</vt:lpstr>
      <vt:lpstr>The Analysis of Current and Future Trends in Technical Skills </vt:lpstr>
      <vt:lpstr>PowerPoint Presentation</vt:lpstr>
      <vt:lpstr>EXECUTIVE SUMMARY</vt:lpstr>
      <vt:lpstr>INTRODUCTION</vt:lpstr>
      <vt:lpstr>METHODOLOGY</vt:lpstr>
      <vt:lpstr>RESULTS</vt:lpstr>
      <vt:lpstr>PROGRAMMING LANGUAGE TRENDS</vt:lpstr>
      <vt:lpstr>PROGRAMMING LANGUAGE TRENDS - FINDINGS &amp; IMPLICATIONS</vt:lpstr>
      <vt:lpstr>DATABASE TRENDS</vt:lpstr>
      <vt:lpstr>DATABASE TRENDS - FINDINGS &amp; IMPLICATIONS</vt:lpstr>
      <vt:lpstr>DASHBOARD</vt:lpstr>
      <vt:lpstr>DASHBOARD TAB 1</vt:lpstr>
      <vt:lpstr>DASHBOARD TAB 2</vt:lpstr>
      <vt:lpstr>DASHBOARD TAB 3</vt:lpstr>
      <vt:lpstr>DISCUSSION</vt:lpstr>
      <vt:lpstr>OVERALL FINDINGS &amp; IMPLICATIONS</vt:lpstr>
      <vt:lpstr>CONCLUSION</vt:lpstr>
      <vt:lpstr>APPENDIX</vt:lpstr>
      <vt:lpstr> JOB POSTINGS</vt:lpstr>
      <vt:lpstr>POPULAR LANGUAGES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Tori Sleeper</dc:creator>
  <cp:lastModifiedBy>Richard Lam</cp:lastModifiedBy>
  <cp:revision>5</cp:revision>
  <dcterms:created xsi:type="dcterms:W3CDTF">2024-10-30T05:40:03Z</dcterms:created>
  <dcterms:modified xsi:type="dcterms:W3CDTF">2026-02-02T01:18:14Z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0x010100EECD86F56755A646AC8AFCBCBD967F21</vt:lpwstr>
  </property>
  <property fmtid="{D5CDD505-2E9C-101B-9397-08002B2CF9AE}" pid="3" name="MediaServiceImageTags">
    <vt:lpwstr/>
  </property>
  <property fmtid="{D5CDD505-2E9C-101B-9397-08002B2CF9AE}" pid="4" name="ArticulateGUID">
    <vt:lpwstr>07C438A6-8092-445C-AC0D-AE1422093206</vt:lpwstr>
  </property>
  <property fmtid="{D5CDD505-2E9C-101B-9397-08002B2CF9AE}" pid="5" name="ArticulatePath">
    <vt:lpwstr>https://skilluptech.sharepoint.com/sites/Coursera/Shared Documents/General/PPT template/IBM Skills Network PPT Template 01.2023</vt:lpwstr>
  </property>
</Properties>
</file>